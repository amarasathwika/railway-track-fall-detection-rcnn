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2" r:id="rId1"/>
  </p:sldMasterIdLst>
  <p:notesMasterIdLst>
    <p:notesMasterId r:id="rId23"/>
  </p:notesMasterIdLst>
  <p:sldIdLst>
    <p:sldId id="265" r:id="rId2"/>
    <p:sldId id="266" r:id="rId3"/>
    <p:sldId id="256" r:id="rId4"/>
    <p:sldId id="257" r:id="rId5"/>
    <p:sldId id="267" r:id="rId6"/>
    <p:sldId id="268" r:id="rId7"/>
    <p:sldId id="269" r:id="rId8"/>
    <p:sldId id="258" r:id="rId9"/>
    <p:sldId id="287" r:id="rId10"/>
    <p:sldId id="259" r:id="rId11"/>
    <p:sldId id="294" r:id="rId12"/>
    <p:sldId id="295" r:id="rId13"/>
    <p:sldId id="296" r:id="rId14"/>
    <p:sldId id="297" r:id="rId15"/>
    <p:sldId id="298" r:id="rId16"/>
    <p:sldId id="299" r:id="rId17"/>
    <p:sldId id="300" r:id="rId18"/>
    <p:sldId id="301" r:id="rId19"/>
    <p:sldId id="272" r:id="rId20"/>
    <p:sldId id="279" r:id="rId21"/>
    <p:sldId id="293" r:id="rId22"/>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29"/>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CFE"/>
    <a:srgbClr val="FFFFFF"/>
    <a:srgbClr val="FCFBFE"/>
    <a:srgbClr val="C7E9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5841" autoAdjust="0"/>
    <p:restoredTop sz="94610"/>
  </p:normalViewPr>
  <p:slideViewPr>
    <p:cSldViewPr snapToGrid="0" snapToObjects="1">
      <p:cViewPr varScale="1">
        <p:scale>
          <a:sx n="51" d="100"/>
          <a:sy n="51" d="100"/>
        </p:scale>
        <p:origin x="68"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2-05T10:40:01.532"/>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2646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17AD1-73D4-6B86-B3E0-834CDF149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7715E1-4CBD-C387-131F-A8FB599E9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D72DB-57BA-9B8B-F533-F528C5B7FF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2D6D18-755D-15B4-17C9-668167E76DE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032461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ctrTitle"/>
          </p:nvPr>
        </p:nvSpPr>
        <p:spPr>
          <a:xfrm>
            <a:off x="4754879" y="2357120"/>
            <a:ext cx="8637271" cy="2905757"/>
          </a:xfrm>
        </p:spPr>
        <p:txBody>
          <a:bodyPr anchor="b">
            <a:normAutofit/>
          </a:bodyPr>
          <a:lstStyle>
            <a:lvl1pPr algn="r">
              <a:defRPr sz="5760">
                <a:effectLst/>
              </a:defRPr>
            </a:lvl1pPr>
          </a:lstStyle>
          <a:p>
            <a:r>
              <a:rPr lang="en-US"/>
              <a:t>Click to edit Master title style</a:t>
            </a:r>
            <a:endParaRPr lang="en-US" dirty="0"/>
          </a:p>
        </p:txBody>
      </p:sp>
      <p:sp>
        <p:nvSpPr>
          <p:cNvPr id="3" name="Subtitle 2"/>
          <p:cNvSpPr>
            <a:spLocks noGrp="1"/>
          </p:cNvSpPr>
          <p:nvPr>
            <p:ph type="subTitle" idx="1"/>
          </p:nvPr>
        </p:nvSpPr>
        <p:spPr>
          <a:xfrm>
            <a:off x="4754879" y="5262879"/>
            <a:ext cx="8637271" cy="1686560"/>
          </a:xfrm>
        </p:spPr>
        <p:txBody>
          <a:bodyPr anchor="t">
            <a:normAutofit/>
          </a:bodyPr>
          <a:lstStyle>
            <a:lvl1pPr marL="0" indent="0" algn="r">
              <a:buNone/>
              <a:defRPr sz="2160" cap="all">
                <a:solidFill>
                  <a:schemeClr val="tx1"/>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10719070" y="7044691"/>
            <a:ext cx="1920240" cy="453390"/>
          </a:xfrm>
        </p:spPr>
        <p:txBody>
          <a:bodyPr/>
          <a:lstStyle/>
          <a:p>
            <a:fld id="{48A87A34-81AB-432B-8DAE-1953F412C126}" type="datetimeFigureOut">
              <a:rPr lang="en-US" smtClean="0"/>
              <a:t>4/11/2026</a:t>
            </a:fld>
            <a:endParaRPr lang="en-US" dirty="0"/>
          </a:p>
        </p:txBody>
      </p:sp>
      <p:sp>
        <p:nvSpPr>
          <p:cNvPr id="5" name="Footer Placeholder 4"/>
          <p:cNvSpPr>
            <a:spLocks noGrp="1"/>
          </p:cNvSpPr>
          <p:nvPr>
            <p:ph type="ftr" sz="quarter" idx="11"/>
          </p:nvPr>
        </p:nvSpPr>
        <p:spPr>
          <a:xfrm>
            <a:off x="4754879" y="7044691"/>
            <a:ext cx="5872750" cy="453390"/>
          </a:xfrm>
        </p:spPr>
        <p:txBody>
          <a:bodyPr/>
          <a:lstStyle/>
          <a:p>
            <a:endParaRPr lang="en-US" dirty="0"/>
          </a:p>
        </p:txBody>
      </p:sp>
      <p:sp>
        <p:nvSpPr>
          <p:cNvPr id="6" name="Slide Number Placeholder 5"/>
          <p:cNvSpPr>
            <a:spLocks noGrp="1"/>
          </p:cNvSpPr>
          <p:nvPr>
            <p:ph type="sldNum" sz="quarter" idx="12"/>
          </p:nvPr>
        </p:nvSpPr>
        <p:spPr>
          <a:xfrm>
            <a:off x="12730750" y="7044691"/>
            <a:ext cx="661400" cy="453390"/>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255223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308033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1" y="3970297"/>
            <a:ext cx="12157712" cy="1762560"/>
          </a:xfrm>
        </p:spPr>
        <p:txBody>
          <a:bodyPr anchor="b"/>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822959" y="5732857"/>
            <a:ext cx="12157714" cy="1032480"/>
          </a:xfrm>
        </p:spPr>
        <p:txBody>
          <a:bodyPr anchor="t">
            <a:normAutofit/>
          </a:bodyPr>
          <a:lstStyle>
            <a:lvl1pPr marL="0" indent="0" algn="l">
              <a:buNone/>
              <a:defRPr sz="2400" cap="all">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756287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2962" y="2570480"/>
            <a:ext cx="5994401" cy="437896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986274" y="2570481"/>
            <a:ext cx="5994398" cy="43789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524278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68404" y="2661921"/>
            <a:ext cx="5650865" cy="691514"/>
          </a:xfrm>
        </p:spPr>
        <p:txBody>
          <a:bodyPr anchor="b">
            <a:no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22962" y="3444241"/>
            <a:ext cx="5996308" cy="35051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315204" y="2672081"/>
            <a:ext cx="5667376" cy="691514"/>
          </a:xfrm>
        </p:spPr>
        <p:txBody>
          <a:bodyPr anchor="b">
            <a:no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988180" y="3444241"/>
            <a:ext cx="5994401" cy="35051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887604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3" name="arrow.wav"/>
          </p:stSnd>
        </p:sndAc>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534760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Date Placeholder 1"/>
          <p:cNvSpPr>
            <a:spLocks noGrp="1"/>
          </p:cNvSpPr>
          <p:nvPr>
            <p:ph type="dt" sz="half" idx="10"/>
          </p:nvPr>
        </p:nvSpPr>
        <p:spPr/>
        <p:txBody>
          <a:bodyPr/>
          <a:lstStyle/>
          <a:p>
            <a:fld id="{B8BDBF0D-D06A-4D54-BC22-1FD3E2A6001A}" type="datetimeFigureOut">
              <a:rPr lang="en-US" smtClean="0"/>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32310339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1" y="2489200"/>
            <a:ext cx="4417062" cy="1645920"/>
          </a:xfrm>
        </p:spPr>
        <p:txBody>
          <a:bodyPr anchor="b">
            <a:normAutofit/>
          </a:bodyPr>
          <a:lstStyle>
            <a:lvl1pPr algn="l">
              <a:defRPr sz="2880" b="0"/>
            </a:lvl1pPr>
          </a:lstStyle>
          <a:p>
            <a:r>
              <a:rPr lang="en-US"/>
              <a:t>Click to edit Master title style</a:t>
            </a:r>
            <a:endParaRPr lang="en-US" dirty="0"/>
          </a:p>
        </p:txBody>
      </p:sp>
      <p:sp>
        <p:nvSpPr>
          <p:cNvPr id="3" name="Content Placeholder 2"/>
          <p:cNvSpPr>
            <a:spLocks noGrp="1"/>
          </p:cNvSpPr>
          <p:nvPr>
            <p:ph idx="1"/>
          </p:nvPr>
        </p:nvSpPr>
        <p:spPr>
          <a:xfrm>
            <a:off x="5577841" y="731521"/>
            <a:ext cx="7402831" cy="621792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2961" y="4135120"/>
            <a:ext cx="4417062" cy="2194560"/>
          </a:xfrm>
        </p:spPr>
        <p:txBody>
          <a:bodyPr anchor="t">
            <a:normAutofit/>
          </a:bodyPr>
          <a:lstStyle>
            <a:lvl1pPr marL="0" indent="0">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405774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0" y="1920240"/>
            <a:ext cx="7397584" cy="1645920"/>
          </a:xfrm>
        </p:spPr>
        <p:txBody>
          <a:bodyPr anchor="b">
            <a:normAutofit/>
          </a:bodyPr>
          <a:lstStyle>
            <a:lvl1pPr algn="l">
              <a:defRPr sz="336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043504" y="1097280"/>
            <a:ext cx="3937169" cy="54864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22960" y="3566160"/>
            <a:ext cx="7397584" cy="2194560"/>
          </a:xfrm>
        </p:spPr>
        <p:txBody>
          <a:bodyPr anchor="t">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883964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1" y="5679438"/>
            <a:ext cx="12157712"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45921" y="1118535"/>
            <a:ext cx="10511792" cy="3797971"/>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22961" y="6359524"/>
            <a:ext cx="12157712" cy="592454"/>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4/11/2026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868336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2" y="731522"/>
            <a:ext cx="12157712" cy="3749039"/>
          </a:xfrm>
        </p:spPr>
        <p:txBody>
          <a:bodyPr anchor="ctr">
            <a:normAutofit/>
          </a:bodyPr>
          <a:lstStyle>
            <a:lvl1pPr algn="l">
              <a:defRPr sz="3840" b="0" cap="none"/>
            </a:lvl1pPr>
          </a:lstStyle>
          <a:p>
            <a:r>
              <a:rPr lang="en-US"/>
              <a:t>Click to edit Master title style</a:t>
            </a:r>
            <a:endParaRPr lang="en-US" dirty="0"/>
          </a:p>
        </p:txBody>
      </p:sp>
      <p:sp>
        <p:nvSpPr>
          <p:cNvPr id="3" name="Text Placeholder 2"/>
          <p:cNvSpPr>
            <a:spLocks noGrp="1"/>
          </p:cNvSpPr>
          <p:nvPr>
            <p:ph type="body" idx="1"/>
          </p:nvPr>
        </p:nvSpPr>
        <p:spPr>
          <a:xfrm>
            <a:off x="822960" y="5212080"/>
            <a:ext cx="12157714" cy="1737360"/>
          </a:xfrm>
        </p:spPr>
        <p:txBody>
          <a:bodyPr anchor="ctr">
            <a:normAutofit/>
          </a:bodyPr>
          <a:lstStyle>
            <a:lvl1pPr marL="0" indent="0" algn="l">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006414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15" name="TextBox 14"/>
          <p:cNvSpPr txBox="1"/>
          <p:nvPr/>
        </p:nvSpPr>
        <p:spPr>
          <a:xfrm>
            <a:off x="12285440" y="3291840"/>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11" name="TextBox 10"/>
          <p:cNvSpPr txBox="1"/>
          <p:nvPr/>
        </p:nvSpPr>
        <p:spPr>
          <a:xfrm>
            <a:off x="585930" y="988005"/>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2" name="Title 1"/>
          <p:cNvSpPr>
            <a:spLocks noGrp="1"/>
          </p:cNvSpPr>
          <p:nvPr>
            <p:ph type="title"/>
          </p:nvPr>
        </p:nvSpPr>
        <p:spPr>
          <a:xfrm>
            <a:off x="1190721" y="731522"/>
            <a:ext cx="11460479" cy="3291839"/>
          </a:xfrm>
        </p:spPr>
        <p:txBody>
          <a:bodyPr anchor="ctr">
            <a:normAutofit/>
          </a:bodyPr>
          <a:lstStyle>
            <a:lvl1pPr algn="l">
              <a:defRPr sz="384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317450" y="4023360"/>
            <a:ext cx="11207021" cy="457200"/>
          </a:xfrm>
        </p:spPr>
        <p:txBody>
          <a:bodyPr anchor="ctr"/>
          <a:lstStyle>
            <a:lvl1pPr marL="0" indent="0">
              <a:buFontTx/>
              <a:buNone/>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24959" y="5212080"/>
            <a:ext cx="12182840" cy="1737360"/>
          </a:xfrm>
        </p:spPr>
        <p:txBody>
          <a:bodyPr anchor="ctr">
            <a:normAutofit/>
          </a:bodyPr>
          <a:lstStyle>
            <a:lvl1pPr marL="0" indent="0" algn="l">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499173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3" y="3970297"/>
            <a:ext cx="12157710" cy="1762560"/>
          </a:xfrm>
        </p:spPr>
        <p:txBody>
          <a:bodyPr anchor="b">
            <a:normAutofit/>
          </a:bodyPr>
          <a:lstStyle>
            <a:lvl1pPr algn="l">
              <a:defRPr sz="3840" b="0" cap="none"/>
            </a:lvl1pPr>
          </a:lstStyle>
          <a:p>
            <a:r>
              <a:rPr lang="en-US"/>
              <a:t>Click to edit Master title style</a:t>
            </a:r>
            <a:endParaRPr lang="en-US" dirty="0"/>
          </a:p>
        </p:txBody>
      </p:sp>
      <p:sp>
        <p:nvSpPr>
          <p:cNvPr id="3" name="Text Placeholder 2"/>
          <p:cNvSpPr>
            <a:spLocks noGrp="1"/>
          </p:cNvSpPr>
          <p:nvPr>
            <p:ph type="body" idx="1"/>
          </p:nvPr>
        </p:nvSpPr>
        <p:spPr>
          <a:xfrm>
            <a:off x="822961" y="5732857"/>
            <a:ext cx="12157711" cy="1032480"/>
          </a:xfrm>
        </p:spPr>
        <p:txBody>
          <a:bodyPr anchor="t">
            <a:normAutofit/>
          </a:bodyPr>
          <a:lstStyle>
            <a:lvl1pPr marL="0" indent="0" algn="l">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426834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13" name="TextBox 12"/>
          <p:cNvSpPr txBox="1"/>
          <p:nvPr/>
        </p:nvSpPr>
        <p:spPr>
          <a:xfrm>
            <a:off x="12285440" y="3291840"/>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14" name="TextBox 13"/>
          <p:cNvSpPr txBox="1"/>
          <p:nvPr/>
        </p:nvSpPr>
        <p:spPr>
          <a:xfrm>
            <a:off x="585930" y="988005"/>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16" name="Title 1"/>
          <p:cNvSpPr>
            <a:spLocks noGrp="1"/>
          </p:cNvSpPr>
          <p:nvPr>
            <p:ph type="title"/>
          </p:nvPr>
        </p:nvSpPr>
        <p:spPr>
          <a:xfrm>
            <a:off x="1190721" y="731522"/>
            <a:ext cx="11460479" cy="3291839"/>
          </a:xfrm>
        </p:spPr>
        <p:txBody>
          <a:bodyPr anchor="ctr">
            <a:normAutofit/>
          </a:bodyPr>
          <a:lstStyle>
            <a:lvl1pPr algn="l">
              <a:defRPr sz="384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22960" y="4663440"/>
            <a:ext cx="12162523" cy="1066800"/>
          </a:xfrm>
        </p:spPr>
        <p:txBody>
          <a:bodyPr vert="horz" lIns="91440" tIns="45720" rIns="91440" bIns="45720" rtlCol="0" anchor="b">
            <a:normAutofit/>
          </a:bodyPr>
          <a:lstStyle>
            <a:lvl1pPr>
              <a:buNone/>
              <a:defRPr lang="en-US" sz="288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22959" y="5730240"/>
            <a:ext cx="12162523" cy="121920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906268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2" y="731522"/>
            <a:ext cx="12157712" cy="329183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822961" y="4206240"/>
            <a:ext cx="12157714" cy="1005840"/>
          </a:xfrm>
        </p:spPr>
        <p:txBody>
          <a:bodyPr vert="horz" lIns="91440" tIns="45720" rIns="91440" bIns="45720" rtlCol="0" anchor="b">
            <a:normAutofit/>
          </a:bodyPr>
          <a:lstStyle>
            <a:lvl1pPr>
              <a:buNone/>
              <a:defRPr lang="en-US" sz="336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22960" y="5212080"/>
            <a:ext cx="12157714" cy="173736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6233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8" name="Title 1"/>
          <p:cNvSpPr>
            <a:spLocks noGrp="1"/>
          </p:cNvSpPr>
          <p:nvPr>
            <p:ph type="title"/>
          </p:nvPr>
        </p:nvSpPr>
        <p:spPr>
          <a:xfrm>
            <a:off x="822962" y="731521"/>
            <a:ext cx="12157710" cy="1747520"/>
          </a:xfrm>
        </p:spPr>
        <p:txBody>
          <a:bodyPr/>
          <a:lstStyle/>
          <a:p>
            <a:r>
              <a:rPr lang="en-US"/>
              <a:t>Click to edit Master title style</a:t>
            </a:r>
            <a:endParaRPr lang="en-US" dirty="0"/>
          </a:p>
        </p:txBody>
      </p:sp>
    </p:spTree>
    <p:extLst>
      <p:ext uri="{BB962C8B-B14F-4D97-AF65-F5344CB8AC3E}">
        <p14:creationId xmlns:p14="http://schemas.microsoft.com/office/powerpoint/2010/main" val="796715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Vertical Title 1"/>
          <p:cNvSpPr>
            <a:spLocks noGrp="1"/>
          </p:cNvSpPr>
          <p:nvPr>
            <p:ph type="title" orient="vert"/>
          </p:nvPr>
        </p:nvSpPr>
        <p:spPr>
          <a:xfrm>
            <a:off x="10390410" y="731520"/>
            <a:ext cx="2590262" cy="62179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22960" y="731520"/>
            <a:ext cx="9398539" cy="621792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18366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4" name="arrow.wav"/>
          </p:stSnd>
        </p:sndAc>
      </p:transition>
    </mc:Fallback>
  </mc:AlternateContent>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80666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3" name="arrow.wav"/>
          </p:stSnd>
        </p:sndAc>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0623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3" name="arrow.wav"/>
          </p:stSnd>
        </p:sndAc>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09007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3" name="arrow.wav"/>
          </p:stSnd>
        </p:sndAc>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6932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1" name="arrow.wav"/>
          </p:stSnd>
        </p:sndAc>
      </p:transition>
    </mc:Choice>
    <mc:Fallback xmlns="">
      <p:transition spd="slow">
        <p:fade/>
        <p:sndAc>
          <p:stSnd>
            <p:snd r:embed="rId3" name="arrow.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audio" Target="../media/audio1.wav"/><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audio" Target="../media/audio1.wav"/><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2962" y="731521"/>
            <a:ext cx="12157710" cy="174752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22962" y="2570481"/>
            <a:ext cx="12157710" cy="437896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07592" y="7044691"/>
            <a:ext cx="1920240" cy="45339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48A87A34-81AB-432B-8DAE-1953F412C126}" type="datetimeFigureOut">
              <a:rPr lang="en-US" smtClean="0"/>
              <a:pPr/>
              <a:t>4/11/2026</a:t>
            </a:fld>
            <a:endParaRPr lang="en-US" dirty="0"/>
          </a:p>
        </p:txBody>
      </p:sp>
      <p:sp>
        <p:nvSpPr>
          <p:cNvPr id="5" name="Footer Placeholder 4"/>
          <p:cNvSpPr>
            <a:spLocks noGrp="1"/>
          </p:cNvSpPr>
          <p:nvPr>
            <p:ph type="ftr" sz="quarter" idx="3"/>
          </p:nvPr>
        </p:nvSpPr>
        <p:spPr>
          <a:xfrm>
            <a:off x="822961" y="7044691"/>
            <a:ext cx="9393191" cy="453390"/>
          </a:xfrm>
          <a:prstGeom prst="rect">
            <a:avLst/>
          </a:prstGeom>
        </p:spPr>
        <p:txBody>
          <a:bodyPr vert="horz" lIns="91440" tIns="45720" rIns="91440" bIns="45720" rtlCol="0" anchor="ctr"/>
          <a:lstStyle>
            <a:lvl1pPr algn="l">
              <a:defRPr sz="12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2319273" y="7044691"/>
            <a:ext cx="661400" cy="45339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86337895"/>
      </p:ext>
    </p:extLst>
  </p:cSld>
  <p:clrMap bg1="dk1" tx1="lt1" bg2="dk2" tx2="lt2" accent1="accent1" accent2="accent2" accent3="accent3" accent4="accent4" accent5="accent5" accent6="accent6" hlink="hlink" folHlink="folHlink"/>
  <p:sldLayoutIdLst>
    <p:sldLayoutId id="2147484473" r:id="rId1"/>
    <p:sldLayoutId id="2147484474" r:id="rId2"/>
    <p:sldLayoutId id="2147484475" r:id="rId3"/>
    <p:sldLayoutId id="2147484476" r:id="rId4"/>
    <p:sldLayoutId id="2147484477" r:id="rId5"/>
    <p:sldLayoutId id="2147484478" r:id="rId6"/>
    <p:sldLayoutId id="2147484479" r:id="rId7"/>
    <p:sldLayoutId id="2147484480" r:id="rId8"/>
    <p:sldLayoutId id="2147484481" r:id="rId9"/>
    <p:sldLayoutId id="2147484482" r:id="rId10"/>
    <p:sldLayoutId id="2147484483" r:id="rId11"/>
    <p:sldLayoutId id="2147484484" r:id="rId12"/>
    <p:sldLayoutId id="2147484485" r:id="rId13"/>
    <p:sldLayoutId id="2147484486" r:id="rId14"/>
    <p:sldLayoutId id="2147484487" r:id="rId15"/>
    <p:sldLayoutId id="2147484488" r:id="rId16"/>
    <p:sldLayoutId id="2147484489" r:id="rId17"/>
    <p:sldLayoutId id="2147484490" r:id="rId18"/>
    <p:sldLayoutId id="2147484491" r:id="rId19"/>
    <p:sldLayoutId id="2147484492" r:id="rId20"/>
    <p:sldLayoutId id="2147484493" r:id="rId21"/>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3" name="arrow.wav"/>
          </p:stSnd>
        </p:sndAc>
      </p:transition>
    </mc:Choice>
    <mc:Fallback xmlns="">
      <p:transition spd="slow">
        <p:fade/>
        <p:sndAc>
          <p:stSnd>
            <p:snd r:embed="rId24" name="arrow.wav"/>
          </p:stSnd>
        </p:sndAc>
      </p:transition>
    </mc:Fallback>
  </mc:AlternateContent>
  <p:hf sldNum="0" hdr="0" ftr="0" dt="0"/>
  <p:txStyles>
    <p:titleStyle>
      <a:lvl1pPr algn="l" defTabSz="548640" rtl="0" eaLnBrk="1" latinLnBrk="0" hangingPunct="1">
        <a:spcBef>
          <a:spcPct val="0"/>
        </a:spcBef>
        <a:buNone/>
        <a:defRPr sz="432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548640" rtl="0" eaLnBrk="1" latinLnBrk="0" hangingPunct="1">
        <a:spcBef>
          <a:spcPts val="0"/>
        </a:spcBef>
        <a:spcAft>
          <a:spcPts val="1200"/>
        </a:spcAft>
        <a:buClr>
          <a:schemeClr val="tx1"/>
        </a:buClr>
        <a:buSzPct val="100000"/>
        <a:buFont typeface="Arial"/>
        <a:buChar char="•"/>
        <a:defRPr sz="2160" kern="1200" cap="none">
          <a:solidFill>
            <a:schemeClr val="tx1"/>
          </a:solidFill>
          <a:effectLst/>
          <a:latin typeface="+mn-lt"/>
          <a:ea typeface="+mn-ea"/>
          <a:cs typeface="+mn-cs"/>
        </a:defRPr>
      </a:lvl1pPr>
      <a:lvl2pPr marL="891540" indent="-342900" algn="l" defTabSz="548640" rtl="0" eaLnBrk="1" latinLnBrk="0" hangingPunct="1">
        <a:spcBef>
          <a:spcPts val="0"/>
        </a:spcBef>
        <a:spcAft>
          <a:spcPts val="1200"/>
        </a:spcAft>
        <a:buClr>
          <a:schemeClr val="tx1"/>
        </a:buClr>
        <a:buSzPct val="100000"/>
        <a:buFont typeface="Arial"/>
        <a:buChar char="•"/>
        <a:defRPr sz="1920" kern="1200" cap="none">
          <a:solidFill>
            <a:schemeClr val="tx1"/>
          </a:solidFill>
          <a:effectLst/>
          <a:latin typeface="+mn-lt"/>
          <a:ea typeface="+mn-ea"/>
          <a:cs typeface="+mn-cs"/>
        </a:defRPr>
      </a:lvl2pPr>
      <a:lvl3pPr marL="1440180" indent="-342900" algn="l" defTabSz="548640" rtl="0" eaLnBrk="1" latinLnBrk="0" hangingPunct="1">
        <a:spcBef>
          <a:spcPts val="0"/>
        </a:spcBef>
        <a:spcAft>
          <a:spcPts val="1200"/>
        </a:spcAft>
        <a:buClr>
          <a:schemeClr val="tx1"/>
        </a:buClr>
        <a:buSzPct val="100000"/>
        <a:buFont typeface="Arial"/>
        <a:buChar char="•"/>
        <a:defRPr sz="1680" kern="1200" cap="none">
          <a:solidFill>
            <a:schemeClr val="tx1"/>
          </a:solidFill>
          <a:effectLst/>
          <a:latin typeface="+mn-lt"/>
          <a:ea typeface="+mn-ea"/>
          <a:cs typeface="+mn-cs"/>
        </a:defRPr>
      </a:lvl3pPr>
      <a:lvl4pPr marL="1851660" indent="-20574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4pPr>
      <a:lvl5pPr marL="2400300" indent="-20574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5pPr>
      <a:lvl6pPr marL="3017520" indent="-27432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6pPr>
      <a:lvl7pPr marL="3566160" indent="-27432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7pPr>
      <a:lvl8pPr marL="4114800" indent="-27432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8pPr>
      <a:lvl9pPr marL="4663440" indent="-27432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audio" Target="../media/audio1.wav"/><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9.xml"/><Relationship Id="rId5" Type="http://schemas.openxmlformats.org/officeDocument/2006/relationships/audio" Target="../media/audio1.wav"/><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audio" Target="../media/audio1.wav"/><Relationship Id="rId1" Type="http://schemas.openxmlformats.org/officeDocument/2006/relationships/slideLayout" Target="../slideLayouts/slideLayout19.xml"/><Relationship Id="rId4" Type="http://schemas.openxmlformats.org/officeDocument/2006/relationships/audio" Target="../media/audio1.wav"/></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audio" Target="../media/audio1.wav"/><Relationship Id="rId1" Type="http://schemas.openxmlformats.org/officeDocument/2006/relationships/slideLayout" Target="../slideLayouts/slideLayout19.xml"/><Relationship Id="rId6" Type="http://schemas.openxmlformats.org/officeDocument/2006/relationships/audio" Target="../media/audio1.wav"/><Relationship Id="rId5"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audio" Target="../media/audio1.wav"/><Relationship Id="rId1" Type="http://schemas.openxmlformats.org/officeDocument/2006/relationships/slideLayout" Target="../slideLayouts/slideLayout19.xml"/><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20.xml"/><Relationship Id="rId5" Type="http://schemas.openxmlformats.org/officeDocument/2006/relationships/audio" Target="../media/audio1.wav"/><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6.xml"/><Relationship Id="rId4" Type="http://schemas.openxmlformats.org/officeDocument/2006/relationships/audio" Target="../media/audio1.wav"/></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6.xml"/><Relationship Id="rId4"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6.xml"/><Relationship Id="rId4" Type="http://schemas.openxmlformats.org/officeDocument/2006/relationships/audio" Target="../media/audio1.wav"/></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audio" Target="../media/audio1.wav"/><Relationship Id="rId1" Type="http://schemas.openxmlformats.org/officeDocument/2006/relationships/slideLayout" Target="../slideLayouts/slideLayout6.xml"/><Relationship Id="rId4" Type="http://schemas.openxmlformats.org/officeDocument/2006/relationships/audio" Target="../media/audio1.wav"/></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audio" Target="../media/audio1.wav"/><Relationship Id="rId1" Type="http://schemas.openxmlformats.org/officeDocument/2006/relationships/slideLayout" Target="../slideLayouts/slideLayout6.xml"/><Relationship Id="rId4" Type="http://schemas.openxmlformats.org/officeDocument/2006/relationships/audio" Target="../media/audio1.wav"/></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audio" Target="../media/audio1.wav"/><Relationship Id="rId1" Type="http://schemas.openxmlformats.org/officeDocument/2006/relationships/slideLayout" Target="../slideLayouts/slideLayout6.xml"/><Relationship Id="rId4" Type="http://schemas.openxmlformats.org/officeDocument/2006/relationships/audio" Target="../media/audio1.wav"/></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audio" Target="../media/audio1.wav"/><Relationship Id="rId1" Type="http://schemas.openxmlformats.org/officeDocument/2006/relationships/slideLayout" Target="../slideLayouts/slideLayout21.xml"/><Relationship Id="rId4"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710A841-22EF-25BC-CDCD-F79586A3D842}"/>
              </a:ext>
            </a:extLst>
          </p:cNvPr>
          <p:cNvSpPr txBox="1"/>
          <p:nvPr/>
        </p:nvSpPr>
        <p:spPr>
          <a:xfrm>
            <a:off x="4917334" y="4489986"/>
            <a:ext cx="6640078" cy="5078313"/>
          </a:xfrm>
          <a:prstGeom prst="rect">
            <a:avLst/>
          </a:prstGeom>
          <a:noFill/>
        </p:spPr>
        <p:txBody>
          <a:bodyPr wrap="square" rtlCol="0">
            <a:spAutoFit/>
          </a:bodyPr>
          <a:lstStyle/>
          <a:p>
            <a:endParaRPr lang="en-US" sz="2160" b="1" dirty="0"/>
          </a:p>
          <a:p>
            <a:r>
              <a:rPr lang="en-US" sz="2160" dirty="0"/>
              <a:t> </a:t>
            </a:r>
          </a:p>
          <a:p>
            <a:r>
              <a:rPr lang="en-US" sz="2160" b="1" dirty="0"/>
              <a:t>        A.SATHWIKA      (22F01A4202)</a:t>
            </a:r>
          </a:p>
          <a:p>
            <a:r>
              <a:rPr lang="en-US" sz="2160" b="1" dirty="0"/>
              <a:t>        D.VISHNU PRIYA (22F01A4213)</a:t>
            </a:r>
          </a:p>
          <a:p>
            <a:r>
              <a:rPr lang="en-US" sz="2160" b="1" dirty="0"/>
              <a:t>        K.AVANTHI          (22F01A4227)</a:t>
            </a:r>
          </a:p>
          <a:p>
            <a:r>
              <a:rPr lang="en-US" sz="2160" b="1" dirty="0"/>
              <a:t>        B.V.L.SAAHITHI  (22F01A4207)</a:t>
            </a:r>
          </a:p>
          <a:p>
            <a:endParaRPr lang="en-US" sz="2160" b="1" dirty="0"/>
          </a:p>
          <a:p>
            <a:endParaRPr lang="en-US" sz="2160" b="1" dirty="0"/>
          </a:p>
          <a:p>
            <a:endParaRPr lang="en-US" sz="2160" b="1" dirty="0"/>
          </a:p>
          <a:p>
            <a:endParaRPr lang="en-US" sz="2160" b="1" dirty="0"/>
          </a:p>
          <a:p>
            <a:endParaRPr lang="en-US" sz="2160" b="1" dirty="0"/>
          </a:p>
          <a:p>
            <a:endParaRPr lang="en-US" sz="2160" b="1" dirty="0"/>
          </a:p>
          <a:p>
            <a:endParaRPr lang="en-US" sz="2160" b="1" dirty="0"/>
          </a:p>
          <a:p>
            <a:endParaRPr lang="en-US" sz="2160" b="1" dirty="0"/>
          </a:p>
          <a:p>
            <a:r>
              <a:rPr lang="en-US" sz="2160" dirty="0"/>
              <a:t>                                         </a:t>
            </a:r>
          </a:p>
        </p:txBody>
      </p:sp>
      <p:sp>
        <p:nvSpPr>
          <p:cNvPr id="14" name="TextBox 13">
            <a:extLst>
              <a:ext uri="{FF2B5EF4-FFF2-40B4-BE49-F238E27FC236}">
                <a16:creationId xmlns:a16="http://schemas.microsoft.com/office/drawing/2014/main" id="{91946831-1F41-772D-8E4D-2FC32DEE4CA2}"/>
              </a:ext>
            </a:extLst>
          </p:cNvPr>
          <p:cNvSpPr txBox="1"/>
          <p:nvPr/>
        </p:nvSpPr>
        <p:spPr>
          <a:xfrm>
            <a:off x="137786" y="4010590"/>
            <a:ext cx="14267147" cy="861774"/>
          </a:xfrm>
          <a:prstGeom prst="rect">
            <a:avLst/>
          </a:prstGeom>
          <a:noFill/>
        </p:spPr>
        <p:txBody>
          <a:bodyPr wrap="square">
            <a:spAutoFit/>
          </a:bodyPr>
          <a:lstStyle/>
          <a:p>
            <a:pPr algn="ctr"/>
            <a:r>
              <a:rPr lang="en-US" sz="2500" b="1" dirty="0">
                <a:solidFill>
                  <a:srgbClr val="FF0000"/>
                </a:solidFill>
                <a:latin typeface="Imprint MT Shadow" panose="04020605060303030202" pitchFamily="82" charset="0"/>
              </a:rPr>
              <a:t>Railway Track Fall Detection System Using Region Based Convolutional Neural Networks </a:t>
            </a:r>
          </a:p>
          <a:p>
            <a:pPr algn="ctr"/>
            <a:r>
              <a:rPr lang="en-US" sz="2500" b="1" dirty="0">
                <a:solidFill>
                  <a:srgbClr val="FF0000"/>
                </a:solidFill>
                <a:latin typeface="Imprint MT Shadow" panose="04020605060303030202" pitchFamily="82" charset="0"/>
              </a:rPr>
              <a:t>For People Safety</a:t>
            </a:r>
          </a:p>
        </p:txBody>
      </p:sp>
      <p:sp>
        <p:nvSpPr>
          <p:cNvPr id="15" name="TextBox 14">
            <a:extLst>
              <a:ext uri="{FF2B5EF4-FFF2-40B4-BE49-F238E27FC236}">
                <a16:creationId xmlns:a16="http://schemas.microsoft.com/office/drawing/2014/main" id="{763E526D-8185-94A4-7430-2B4BC6E52C4A}"/>
              </a:ext>
            </a:extLst>
          </p:cNvPr>
          <p:cNvSpPr txBox="1"/>
          <p:nvPr/>
        </p:nvSpPr>
        <p:spPr>
          <a:xfrm>
            <a:off x="3441639" y="1372378"/>
            <a:ext cx="9591466" cy="830997"/>
          </a:xfrm>
          <a:prstGeom prst="rect">
            <a:avLst/>
          </a:prstGeom>
          <a:noFill/>
        </p:spPr>
        <p:txBody>
          <a:bodyPr wrap="square" rtlCol="0">
            <a:spAutoFit/>
          </a:bodyPr>
          <a:lstStyle/>
          <a:p>
            <a:r>
              <a:rPr lang="en-US" sz="2400" b="1" dirty="0">
                <a:solidFill>
                  <a:schemeClr val="tx2">
                    <a:lumMod val="50000"/>
                  </a:schemeClr>
                </a:solidFill>
              </a:rPr>
              <a:t>                                        </a:t>
            </a:r>
            <a:r>
              <a:rPr lang="en-US" sz="2400" b="1" dirty="0">
                <a:solidFill>
                  <a:srgbClr val="FF0000"/>
                </a:solidFill>
              </a:rPr>
              <a:t>DEPARTMENT OF</a:t>
            </a:r>
          </a:p>
          <a:p>
            <a:r>
              <a:rPr lang="en-US" sz="2400" b="1" dirty="0">
                <a:solidFill>
                  <a:srgbClr val="FF0000"/>
                </a:solidFill>
              </a:rPr>
              <a:t>   CSE-ARTIFICIAL INTELLIGENCE &amp; MACHINE LEARNING</a:t>
            </a:r>
          </a:p>
        </p:txBody>
      </p:sp>
      <p:sp>
        <p:nvSpPr>
          <p:cNvPr id="17" name="TextBox 16">
            <a:extLst>
              <a:ext uri="{FF2B5EF4-FFF2-40B4-BE49-F238E27FC236}">
                <a16:creationId xmlns:a16="http://schemas.microsoft.com/office/drawing/2014/main" id="{CB4A102B-2FF4-7E38-2632-3FC6AEF3F58B}"/>
              </a:ext>
            </a:extLst>
          </p:cNvPr>
          <p:cNvSpPr txBox="1"/>
          <p:nvPr/>
        </p:nvSpPr>
        <p:spPr>
          <a:xfrm>
            <a:off x="6108189" y="4811917"/>
            <a:ext cx="4061251" cy="424732"/>
          </a:xfrm>
          <a:prstGeom prst="rect">
            <a:avLst/>
          </a:prstGeom>
          <a:noFill/>
        </p:spPr>
        <p:txBody>
          <a:bodyPr wrap="square" rtlCol="0">
            <a:spAutoFit/>
          </a:bodyPr>
          <a:lstStyle/>
          <a:p>
            <a:r>
              <a:rPr lang="en-US" sz="2160" dirty="0">
                <a:latin typeface="Arial Rounded MT Bold" panose="020F0704030504030204" pitchFamily="34" charset="0"/>
              </a:rPr>
              <a:t>PRESENTED BY </a:t>
            </a:r>
            <a:endParaRPr lang="en-US" sz="2160" dirty="0"/>
          </a:p>
        </p:txBody>
      </p:sp>
      <p:sp>
        <p:nvSpPr>
          <p:cNvPr id="3" name="TextBox 2">
            <a:extLst>
              <a:ext uri="{FF2B5EF4-FFF2-40B4-BE49-F238E27FC236}">
                <a16:creationId xmlns:a16="http://schemas.microsoft.com/office/drawing/2014/main" id="{C8A98272-60F5-8AD7-10A8-B8FE25891C18}"/>
              </a:ext>
            </a:extLst>
          </p:cNvPr>
          <p:cNvSpPr txBox="1"/>
          <p:nvPr/>
        </p:nvSpPr>
        <p:spPr>
          <a:xfrm>
            <a:off x="853557" y="222940"/>
            <a:ext cx="12923287" cy="1532727"/>
          </a:xfrm>
          <a:prstGeom prst="rect">
            <a:avLst/>
          </a:prstGeom>
          <a:noFill/>
        </p:spPr>
        <p:txBody>
          <a:bodyPr wrap="square" rtlCol="0">
            <a:spAutoFit/>
          </a:bodyPr>
          <a:lstStyle/>
          <a:p>
            <a:pPr algn="ctr"/>
            <a:r>
              <a:rPr lang="en-US" sz="3600" b="1" dirty="0">
                <a:solidFill>
                  <a:srgbClr val="FF0000"/>
                </a:solidFill>
              </a:rPr>
              <a:t>ST ANN’S COLLEGE OF ENGINEERING &amp; TECHNOLOGY </a:t>
            </a:r>
          </a:p>
          <a:p>
            <a:pPr algn="ctr"/>
            <a:r>
              <a:rPr lang="en-US" sz="3600" b="1" dirty="0">
                <a:solidFill>
                  <a:srgbClr val="FF0000"/>
                </a:solidFill>
              </a:rPr>
              <a:t>AUTONOMOUS</a:t>
            </a:r>
          </a:p>
          <a:p>
            <a:endParaRPr lang="en-US" sz="2160" dirty="0"/>
          </a:p>
        </p:txBody>
      </p:sp>
      <p:sp>
        <p:nvSpPr>
          <p:cNvPr id="8" name="TextBox 7">
            <a:extLst>
              <a:ext uri="{FF2B5EF4-FFF2-40B4-BE49-F238E27FC236}">
                <a16:creationId xmlns:a16="http://schemas.microsoft.com/office/drawing/2014/main" id="{E2147F0C-AB35-7A83-3CFD-13094AAB7ECF}"/>
              </a:ext>
            </a:extLst>
          </p:cNvPr>
          <p:cNvSpPr txBox="1"/>
          <p:nvPr/>
        </p:nvSpPr>
        <p:spPr>
          <a:xfrm>
            <a:off x="3942681" y="6759221"/>
            <a:ext cx="6999178" cy="1286506"/>
          </a:xfrm>
          <a:prstGeom prst="rect">
            <a:avLst/>
          </a:prstGeom>
          <a:noFill/>
        </p:spPr>
        <p:txBody>
          <a:bodyPr wrap="square" rtlCol="0">
            <a:spAutoFit/>
          </a:bodyPr>
          <a:lstStyle/>
          <a:p>
            <a:r>
              <a:rPr lang="en-US" sz="2160" dirty="0">
                <a:latin typeface="Arial Rounded MT Bold" panose="020F0704030504030204" pitchFamily="34" charset="0"/>
              </a:rPr>
              <a:t>                   UNDER THE GUIDANCE OF</a:t>
            </a:r>
          </a:p>
          <a:p>
            <a:r>
              <a:rPr lang="en-US" sz="2160" dirty="0">
                <a:latin typeface="Arial Rounded MT Bold" panose="020F0704030504030204" pitchFamily="34" charset="0"/>
              </a:rPr>
              <a:t>            </a:t>
            </a:r>
            <a:r>
              <a:rPr lang="en-US" sz="2500" b="1" dirty="0">
                <a:solidFill>
                  <a:srgbClr val="FF0000"/>
                </a:solidFill>
                <a:latin typeface="Arial Rounded MT Bold" panose="020F0704030504030204" pitchFamily="34" charset="0"/>
              </a:rPr>
              <a:t>Dr. P. S. NAVEEN KUMAR, Ph. D</a:t>
            </a:r>
            <a:endParaRPr lang="en-US" sz="2500" b="1" dirty="0">
              <a:solidFill>
                <a:srgbClr val="FF0000"/>
              </a:solidFill>
            </a:endParaRPr>
          </a:p>
          <a:p>
            <a:r>
              <a:rPr lang="en-US" sz="2800" dirty="0"/>
              <a:t>                 </a:t>
            </a:r>
            <a:r>
              <a:rPr lang="en-US" sz="2800" b="1" dirty="0"/>
              <a:t>ASSOCIATE PROFESSOR</a:t>
            </a:r>
            <a:endParaRPr lang="en-US" sz="2800" b="1" dirty="0">
              <a:solidFill>
                <a:schemeClr val="tx2">
                  <a:lumMod val="75000"/>
                </a:schemeClr>
              </a:solidFill>
            </a:endParaRPr>
          </a:p>
        </p:txBody>
      </p:sp>
      <p:pic>
        <p:nvPicPr>
          <p:cNvPr id="9" name="Picture 8">
            <a:extLst>
              <a:ext uri="{FF2B5EF4-FFF2-40B4-BE49-F238E27FC236}">
                <a16:creationId xmlns:a16="http://schemas.microsoft.com/office/drawing/2014/main" id="{70EC983F-39B0-EF0B-F911-8A89648FB9F9}"/>
              </a:ext>
            </a:extLst>
          </p:cNvPr>
          <p:cNvPicPr>
            <a:picLocks noChangeAspect="1"/>
          </p:cNvPicPr>
          <p:nvPr/>
        </p:nvPicPr>
        <p:blipFill>
          <a:blip r:embed="rId3"/>
          <a:stretch>
            <a:fillRect/>
          </a:stretch>
        </p:blipFill>
        <p:spPr>
          <a:xfrm>
            <a:off x="6108189" y="2158613"/>
            <a:ext cx="2414021" cy="1928427"/>
          </a:xfrm>
          <a:prstGeom prst="rect">
            <a:avLst/>
          </a:prstGeom>
        </p:spPr>
      </p:pic>
    </p:spTree>
    <p:extLst>
      <p:ext uri="{BB962C8B-B14F-4D97-AF65-F5344CB8AC3E}">
        <p14:creationId xmlns:p14="http://schemas.microsoft.com/office/powerpoint/2010/main" val="720753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4" name="arrow.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6C0263-CEAD-1EB8-A332-C911357AC1D2}"/>
              </a:ext>
            </a:extLst>
          </p:cNvPr>
          <p:cNvSpPr txBox="1"/>
          <p:nvPr/>
        </p:nvSpPr>
        <p:spPr>
          <a:xfrm>
            <a:off x="2394213" y="1147694"/>
            <a:ext cx="9841974" cy="7300460"/>
          </a:xfrm>
          <a:prstGeom prst="rect">
            <a:avLst/>
          </a:prstGeom>
          <a:noFill/>
        </p:spPr>
        <p:txBody>
          <a:bodyPr wrap="square" rtlCol="0">
            <a:spAutoFit/>
          </a:bodyPr>
          <a:lstStyle/>
          <a:p>
            <a:pPr marL="342900" indent="-342900">
              <a:buFont typeface="Arial" panose="020B0604020202020204" pitchFamily="34" charset="0"/>
              <a:buChar char="•"/>
            </a:pPr>
            <a:endParaRPr lang="en-US" sz="5280" b="1" dirty="0">
              <a:latin typeface="Aptos Display" panose="020B0004020202020204" pitchFamily="34" charset="0"/>
            </a:endParaRPr>
          </a:p>
          <a:p>
            <a:pPr marL="571500" indent="-571500">
              <a:buFont typeface="Courier New" panose="02070309020205020404" pitchFamily="49" charset="0"/>
              <a:buChar char="o"/>
            </a:pPr>
            <a:r>
              <a:rPr lang="en-US" sz="3000" dirty="0"/>
              <a:t>Abstract</a:t>
            </a:r>
          </a:p>
          <a:p>
            <a:pPr marL="571500" indent="-571500">
              <a:buFont typeface="Courier New" panose="02070309020205020404" pitchFamily="49" charset="0"/>
              <a:buChar char="o"/>
            </a:pPr>
            <a:r>
              <a:rPr lang="en-US" sz="3000" dirty="0"/>
              <a:t>Introduction</a:t>
            </a:r>
          </a:p>
          <a:p>
            <a:pPr marL="571500" indent="-571500">
              <a:buFont typeface="Courier New" panose="02070309020205020404" pitchFamily="49" charset="0"/>
              <a:buChar char="o"/>
            </a:pPr>
            <a:r>
              <a:rPr lang="en-US" sz="3000" dirty="0"/>
              <a:t>Objective</a:t>
            </a:r>
          </a:p>
          <a:p>
            <a:pPr marL="571500" indent="-571500">
              <a:buFont typeface="Courier New" panose="02070309020205020404" pitchFamily="49" charset="0"/>
              <a:buChar char="o"/>
            </a:pPr>
            <a:r>
              <a:rPr lang="en-US" sz="3000" dirty="0"/>
              <a:t>Existing System</a:t>
            </a:r>
          </a:p>
          <a:p>
            <a:pPr marL="571500" indent="-571500">
              <a:buFont typeface="Courier New" panose="02070309020205020404" pitchFamily="49" charset="0"/>
              <a:buChar char="o"/>
            </a:pPr>
            <a:r>
              <a:rPr lang="en-US" sz="3000" dirty="0"/>
              <a:t>Proposed Approach using RCNN</a:t>
            </a:r>
          </a:p>
          <a:p>
            <a:pPr marL="571500" indent="-571500">
              <a:buFont typeface="Courier New" panose="02070309020205020404" pitchFamily="49" charset="0"/>
              <a:buChar char="o"/>
            </a:pPr>
            <a:r>
              <a:rPr lang="en-US" sz="3000" dirty="0"/>
              <a:t>Hardware and Software requirements</a:t>
            </a:r>
          </a:p>
          <a:p>
            <a:pPr marL="571500" indent="-571500">
              <a:buFont typeface="Courier New" panose="02070309020205020404" pitchFamily="49" charset="0"/>
              <a:buChar char="o"/>
            </a:pPr>
            <a:r>
              <a:rPr lang="en-US" sz="3000" dirty="0"/>
              <a:t>Literature review</a:t>
            </a:r>
          </a:p>
          <a:p>
            <a:pPr marL="571500" indent="-571500">
              <a:buFont typeface="Courier New" panose="02070309020205020404" pitchFamily="49" charset="0"/>
              <a:buChar char="o"/>
            </a:pPr>
            <a:r>
              <a:rPr lang="en-US" sz="3000" dirty="0"/>
              <a:t>UML Diagrams</a:t>
            </a:r>
          </a:p>
          <a:p>
            <a:pPr marL="571500" indent="-571500">
              <a:buFont typeface="Courier New" panose="02070309020205020404" pitchFamily="49" charset="0"/>
              <a:buChar char="o"/>
            </a:pPr>
            <a:r>
              <a:rPr lang="en-US" sz="3000" dirty="0"/>
              <a:t>Modules Description</a:t>
            </a:r>
          </a:p>
          <a:p>
            <a:pPr marL="571500" indent="-571500">
              <a:buFont typeface="Courier New" panose="02070309020205020404" pitchFamily="49" charset="0"/>
              <a:buChar char="o"/>
            </a:pPr>
            <a:r>
              <a:rPr lang="en-US" sz="3000" dirty="0"/>
              <a:t>Implementation</a:t>
            </a:r>
          </a:p>
          <a:p>
            <a:pPr marL="571500" indent="-571500">
              <a:buFont typeface="Courier New" panose="02070309020205020404" pitchFamily="49" charset="0"/>
              <a:buChar char="o"/>
            </a:pPr>
            <a:r>
              <a:rPr lang="en-US" sz="3000" dirty="0"/>
              <a:t>Conclusion</a:t>
            </a:r>
          </a:p>
          <a:p>
            <a:pPr marL="571500" indent="-571500">
              <a:buFont typeface="Courier New" panose="02070309020205020404" pitchFamily="49" charset="0"/>
              <a:buChar char="o"/>
            </a:pPr>
            <a:endParaRPr lang="en-US" sz="3200" dirty="0"/>
          </a:p>
          <a:p>
            <a:pPr marL="571500" indent="-571500">
              <a:buFont typeface="Wingdings" panose="05000000000000000000" pitchFamily="2" charset="2"/>
              <a:buChar char="v"/>
            </a:pPr>
            <a:endParaRPr lang="en-US" sz="3200" dirty="0"/>
          </a:p>
          <a:p>
            <a:pPr marL="342900" indent="-342900">
              <a:buFont typeface="Arial" panose="020B0604020202020204" pitchFamily="34" charset="0"/>
              <a:buChar char="•"/>
            </a:pPr>
            <a:endParaRPr lang="en-US" sz="2160" dirty="0"/>
          </a:p>
        </p:txBody>
      </p:sp>
      <p:sp>
        <p:nvSpPr>
          <p:cNvPr id="7" name="Rectangle 6">
            <a:extLst>
              <a:ext uri="{FF2B5EF4-FFF2-40B4-BE49-F238E27FC236}">
                <a16:creationId xmlns:a16="http://schemas.microsoft.com/office/drawing/2014/main" id="{78377E0A-9545-C286-A1F1-110EB7FF60D5}"/>
              </a:ext>
            </a:extLst>
          </p:cNvPr>
          <p:cNvSpPr/>
          <p:nvPr/>
        </p:nvSpPr>
        <p:spPr>
          <a:xfrm>
            <a:off x="3332749" y="443551"/>
            <a:ext cx="7724273" cy="761953"/>
          </a:xfrm>
          <a:prstGeom prst="rect">
            <a:avLst/>
          </a:prstGeom>
          <a:ln>
            <a:solidFill>
              <a:schemeClr val="accent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solidFill>
                <a:srgbClr val="FF0000"/>
              </a:solidFill>
              <a:highlight>
                <a:srgbClr val="FFFF00"/>
              </a:highlight>
            </a:endParaRPr>
          </a:p>
        </p:txBody>
      </p:sp>
      <p:sp>
        <p:nvSpPr>
          <p:cNvPr id="5" name="TextBox 4">
            <a:extLst>
              <a:ext uri="{FF2B5EF4-FFF2-40B4-BE49-F238E27FC236}">
                <a16:creationId xmlns:a16="http://schemas.microsoft.com/office/drawing/2014/main" id="{8CE9305B-A937-31E9-431F-F05AA4FF940F}"/>
              </a:ext>
            </a:extLst>
          </p:cNvPr>
          <p:cNvSpPr txBox="1"/>
          <p:nvPr/>
        </p:nvSpPr>
        <p:spPr>
          <a:xfrm>
            <a:off x="4995747" y="501363"/>
            <a:ext cx="7995424" cy="646331"/>
          </a:xfrm>
          <a:prstGeom prst="rect">
            <a:avLst/>
          </a:prstGeom>
          <a:noFill/>
        </p:spPr>
        <p:txBody>
          <a:bodyPr wrap="square" rtlCol="0">
            <a:spAutoFit/>
          </a:bodyPr>
          <a:lstStyle/>
          <a:p>
            <a:r>
              <a:rPr lang="en-IN" sz="3600" b="1" dirty="0"/>
              <a:t>TABLE OF CONTENTS</a:t>
            </a:r>
          </a:p>
        </p:txBody>
      </p:sp>
    </p:spTree>
    <p:extLst>
      <p:ext uri="{BB962C8B-B14F-4D97-AF65-F5344CB8AC3E}">
        <p14:creationId xmlns:p14="http://schemas.microsoft.com/office/powerpoint/2010/main" val="16196400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3" name="arrow.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stretch>
            <a:fillRect/>
          </a:stretch>
        </p:blipFill>
        <p:spPr>
          <a:xfrm>
            <a:off x="0" y="0"/>
            <a:ext cx="5486400" cy="8229600"/>
          </a:xfrm>
          <a:prstGeom prst="rect">
            <a:avLst/>
          </a:prstGeom>
        </p:spPr>
      </p:pic>
      <p:sp>
        <p:nvSpPr>
          <p:cNvPr id="3" name="Text 0"/>
          <p:cNvSpPr/>
          <p:nvPr/>
        </p:nvSpPr>
        <p:spPr>
          <a:xfrm>
            <a:off x="6179757" y="1628696"/>
            <a:ext cx="7415927" cy="2004060"/>
          </a:xfrm>
          <a:prstGeom prst="rect">
            <a:avLst/>
          </a:prstGeom>
          <a:noFill/>
          <a:ln/>
        </p:spPr>
        <p:txBody>
          <a:bodyPr wrap="square" lIns="0" tIns="0" rIns="0" bIns="0" rtlCol="0" anchor="t"/>
          <a:lstStyle/>
          <a:p>
            <a:pPr algn="ctr">
              <a:lnSpc>
                <a:spcPct val="200000"/>
              </a:lnSpc>
            </a:pPr>
            <a:r>
              <a:rPr lang="en-US" sz="2400" kern="0" spc="-126" dirty="0">
                <a:solidFill>
                  <a:srgbClr val="FF0000"/>
                </a:solidFill>
                <a:effectLst>
                  <a:outerShdw blurRad="38100" dist="38100" dir="2700000" algn="tl">
                    <a:srgbClr val="000000">
                      <a:alpha val="43137"/>
                    </a:srgbClr>
                  </a:outerShdw>
                </a:effectLst>
                <a:latin typeface="Eras Bold ITC" panose="020B0907030504020204" pitchFamily="34" charset="0"/>
                <a:ea typeface="Source Serif Pro Semi Bold" pitchFamily="34" charset="-122"/>
                <a:cs typeface="Source Serif Pro Semi Bold" pitchFamily="34" charset="-120"/>
              </a:rPr>
              <a:t>Railway Track Fall Detection System Using Region Based Convolutional</a:t>
            </a:r>
          </a:p>
          <a:p>
            <a:pPr algn="ctr">
              <a:lnSpc>
                <a:spcPct val="200000"/>
              </a:lnSpc>
            </a:pPr>
            <a:r>
              <a:rPr lang="en-US" sz="2400" kern="0" spc="-126" dirty="0">
                <a:solidFill>
                  <a:srgbClr val="FF0000"/>
                </a:solidFill>
                <a:effectLst>
                  <a:outerShdw blurRad="38100" dist="38100" dir="2700000" algn="tl">
                    <a:srgbClr val="000000">
                      <a:alpha val="43137"/>
                    </a:srgbClr>
                  </a:outerShdw>
                </a:effectLst>
                <a:latin typeface="Eras Bold ITC" panose="020B0907030504020204" pitchFamily="34" charset="0"/>
                <a:ea typeface="Source Serif Pro Semi Bold" pitchFamily="34" charset="-122"/>
                <a:cs typeface="Source Serif Pro Semi Bold" pitchFamily="34" charset="-120"/>
              </a:rPr>
              <a:t> Neural Networks For people Safety</a:t>
            </a:r>
            <a:endParaRPr lang="en-US" sz="2400" dirty="0">
              <a:solidFill>
                <a:srgbClr val="FF0000"/>
              </a:solidFill>
              <a:effectLst>
                <a:outerShdw blurRad="38100" dist="38100" dir="2700000" algn="tl">
                  <a:srgbClr val="000000">
                    <a:alpha val="43137"/>
                  </a:srgbClr>
                </a:outerShdw>
              </a:effectLst>
              <a:latin typeface="Eras Bold ITC" panose="020B0907030504020204" pitchFamily="34" charset="0"/>
            </a:endParaRPr>
          </a:p>
        </p:txBody>
      </p:sp>
      <p:sp>
        <p:nvSpPr>
          <p:cNvPr id="4" name="Text 1"/>
          <p:cNvSpPr/>
          <p:nvPr/>
        </p:nvSpPr>
        <p:spPr>
          <a:xfrm>
            <a:off x="6350437" y="4570571"/>
            <a:ext cx="7415927" cy="395049"/>
          </a:xfrm>
          <a:prstGeom prst="rect">
            <a:avLst/>
          </a:prstGeom>
          <a:noFill/>
          <a:ln/>
        </p:spPr>
        <p:txBody>
          <a:bodyPr wrap="none" lIns="0" tIns="0" rIns="0" bIns="0" rtlCol="0" anchor="t"/>
          <a:lstStyle/>
          <a:p>
            <a:pPr marL="0" indent="0">
              <a:lnSpc>
                <a:spcPts val="3100"/>
              </a:lnSpc>
              <a:buNone/>
            </a:pPr>
            <a:endParaRPr lang="en-US" sz="1900" dirty="0"/>
          </a:p>
        </p:txBody>
      </p:sp>
      <p:sp>
        <p:nvSpPr>
          <p:cNvPr id="5" name="Text 2"/>
          <p:cNvSpPr/>
          <p:nvPr/>
        </p:nvSpPr>
        <p:spPr>
          <a:xfrm>
            <a:off x="6350437" y="5243274"/>
            <a:ext cx="7415927" cy="790099"/>
          </a:xfrm>
          <a:prstGeom prst="rect">
            <a:avLst/>
          </a:prstGeom>
          <a:noFill/>
          <a:ln/>
        </p:spPr>
        <p:txBody>
          <a:bodyPr wrap="square" lIns="0" tIns="0" rIns="0" bIns="0" rtlCol="0" anchor="t"/>
          <a:lstStyle/>
          <a:p>
            <a:pPr algn="ctr">
              <a:lnSpc>
                <a:spcPts val="3100"/>
              </a:lnSpc>
            </a:pPr>
            <a:r>
              <a:rPr lang="en-US" sz="2800" dirty="0"/>
              <a:t>A real-time, AI-powered system using Region-Based Convolutional Neural Networks (R-CNN) to detect falls, cracks, and obstacles on railway tracks to prevent accidents.</a:t>
            </a:r>
          </a:p>
        </p:txBody>
      </p:sp>
      <p:pic>
        <p:nvPicPr>
          <p:cNvPr id="6" name="Image 0">
            <a:extLst>
              <a:ext uri="{FF2B5EF4-FFF2-40B4-BE49-F238E27FC236}">
                <a16:creationId xmlns:a16="http://schemas.microsoft.com/office/drawing/2014/main" id="{543E197E-0738-E500-E93B-C9038FE1C580}"/>
              </a:ext>
            </a:extLst>
          </p:cNvPr>
          <p:cNvPicPr>
            <a:picLocks noChangeAspect="1"/>
          </p:cNvPicPr>
          <p:nvPr/>
        </p:nvPicPr>
        <p:blipFill>
          <a:blip r:embed="rId4"/>
          <a:srcRect/>
          <a:stretch/>
        </p:blipFill>
        <p:spPr>
          <a:xfrm>
            <a:off x="0" y="0"/>
            <a:ext cx="5486400" cy="8229600"/>
          </a:xfrm>
          <a:prstGeom prst="rect">
            <a:avLst/>
          </a:prstGeom>
        </p:spPr>
      </p:pic>
      <p:sp>
        <p:nvSpPr>
          <p:cNvPr id="7" name="Rectangle 6">
            <a:extLst>
              <a:ext uri="{FF2B5EF4-FFF2-40B4-BE49-F238E27FC236}">
                <a16:creationId xmlns:a16="http://schemas.microsoft.com/office/drawing/2014/main" id="{F99AF523-45E7-3095-8830-CBFD77634BDB}"/>
              </a:ext>
            </a:extLst>
          </p:cNvPr>
          <p:cNvSpPr/>
          <p:nvPr/>
        </p:nvSpPr>
        <p:spPr>
          <a:xfrm>
            <a:off x="6451164" y="346940"/>
            <a:ext cx="7315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sz="3200" b="1" dirty="0"/>
              <a:t>PROJECT TITLE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3" name="arrow.wav"/>
          </p:stSnd>
        </p:sndAc>
      </p:transition>
    </mc:Choice>
    <mc:Fallback xmlns="">
      <p:transition spd="slow">
        <p:fade/>
        <p:sndAc>
          <p:stSnd>
            <p:snd r:embed="rId5" name="arrow.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DC4604-BD76-D31E-F912-BF3D70F973AD}"/>
              </a:ext>
            </a:extLst>
          </p:cNvPr>
          <p:cNvSpPr/>
          <p:nvPr/>
        </p:nvSpPr>
        <p:spPr>
          <a:xfrm>
            <a:off x="1" y="617243"/>
            <a:ext cx="7315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3" name="Text 0"/>
          <p:cNvSpPr/>
          <p:nvPr/>
        </p:nvSpPr>
        <p:spPr>
          <a:xfrm>
            <a:off x="679064" y="575250"/>
            <a:ext cx="5455444" cy="681871"/>
          </a:xfrm>
          <a:prstGeom prst="rect">
            <a:avLst/>
          </a:prstGeom>
          <a:noFill/>
          <a:ln/>
        </p:spPr>
        <p:txBody>
          <a:bodyPr wrap="none" lIns="0" tIns="0" rIns="0" bIns="0" rtlCol="0" anchor="t"/>
          <a:lstStyle/>
          <a:p>
            <a:pPr marL="0" indent="0">
              <a:lnSpc>
                <a:spcPts val="5350"/>
              </a:lnSpc>
              <a:buNone/>
            </a:pPr>
            <a:endParaRPr lang="en-US" sz="4250" u="sng" dirty="0">
              <a:effectLst>
                <a:outerShdw blurRad="38100" dist="38100" dir="2700000" algn="tl">
                  <a:srgbClr val="000000">
                    <a:alpha val="43137"/>
                  </a:srgbClr>
                </a:outerShdw>
              </a:effectLst>
              <a:latin typeface="Eras Bold ITC" panose="020B0907030504020204" pitchFamily="34" charset="0"/>
            </a:endParaRPr>
          </a:p>
        </p:txBody>
      </p:sp>
      <p:sp>
        <p:nvSpPr>
          <p:cNvPr id="4" name="Text 1"/>
          <p:cNvSpPr/>
          <p:nvPr/>
        </p:nvSpPr>
        <p:spPr>
          <a:xfrm>
            <a:off x="679064" y="1297662"/>
            <a:ext cx="7521178" cy="741759"/>
          </a:xfrm>
          <a:prstGeom prst="rect">
            <a:avLst/>
          </a:prstGeom>
          <a:noFill/>
          <a:ln/>
        </p:spPr>
        <p:txBody>
          <a:bodyPr wrap="square" lIns="0" tIns="0" rIns="0" bIns="0" rtlCol="0" anchor="t"/>
          <a:lstStyle/>
          <a:p>
            <a:pPr marL="342900" indent="-342900" algn="l">
              <a:lnSpc>
                <a:spcPts val="2900"/>
              </a:lnSpc>
              <a:buSzPct val="100000"/>
              <a:buChar char="•"/>
            </a:pPr>
            <a:endParaRPr lang="en-US" sz="2800" dirty="0"/>
          </a:p>
        </p:txBody>
      </p:sp>
      <p:sp>
        <p:nvSpPr>
          <p:cNvPr id="5" name="Text 2"/>
          <p:cNvSpPr/>
          <p:nvPr/>
        </p:nvSpPr>
        <p:spPr>
          <a:xfrm>
            <a:off x="679064" y="2292078"/>
            <a:ext cx="7521178" cy="741759"/>
          </a:xfrm>
          <a:prstGeom prst="rect">
            <a:avLst/>
          </a:prstGeom>
          <a:noFill/>
          <a:ln/>
        </p:spPr>
        <p:txBody>
          <a:bodyPr wrap="square" lIns="0" tIns="0" rIns="0" bIns="0" rtlCol="0" anchor="t"/>
          <a:lstStyle/>
          <a:p>
            <a:pPr marL="342900" indent="-342900" algn="l">
              <a:lnSpc>
                <a:spcPts val="2900"/>
              </a:lnSpc>
              <a:buSzPct val="100000"/>
              <a:buChar char="•"/>
            </a:pPr>
            <a:endParaRPr lang="en-US" sz="2800" dirty="0"/>
          </a:p>
        </p:txBody>
      </p:sp>
      <p:sp>
        <p:nvSpPr>
          <p:cNvPr id="6" name="Text 3"/>
          <p:cNvSpPr/>
          <p:nvPr/>
        </p:nvSpPr>
        <p:spPr>
          <a:xfrm>
            <a:off x="679064" y="3707639"/>
            <a:ext cx="7521178" cy="741759"/>
          </a:xfrm>
          <a:prstGeom prst="rect">
            <a:avLst/>
          </a:prstGeom>
          <a:noFill/>
          <a:ln/>
        </p:spPr>
        <p:txBody>
          <a:bodyPr wrap="square" lIns="0" tIns="0" rIns="0" bIns="0" rtlCol="0" anchor="t"/>
          <a:lstStyle/>
          <a:p>
            <a:pPr marL="342900" indent="-342900" algn="l">
              <a:lnSpc>
                <a:spcPts val="2900"/>
              </a:lnSpc>
              <a:buSzPct val="100000"/>
              <a:buChar char="•"/>
            </a:pPr>
            <a:endParaRPr lang="en-US" sz="2800" dirty="0"/>
          </a:p>
        </p:txBody>
      </p:sp>
      <p:sp>
        <p:nvSpPr>
          <p:cNvPr id="7" name="Text 4"/>
          <p:cNvSpPr/>
          <p:nvPr/>
        </p:nvSpPr>
        <p:spPr>
          <a:xfrm>
            <a:off x="811411" y="4731300"/>
            <a:ext cx="7521178" cy="370880"/>
          </a:xfrm>
          <a:prstGeom prst="rect">
            <a:avLst/>
          </a:prstGeom>
          <a:noFill/>
          <a:ln/>
        </p:spPr>
        <p:txBody>
          <a:bodyPr wrap="none" lIns="0" tIns="0" rIns="0" bIns="0" rtlCol="0" anchor="t"/>
          <a:lstStyle/>
          <a:p>
            <a:pPr marL="685800" lvl="1" indent="-342900" algn="l">
              <a:lnSpc>
                <a:spcPts val="2900"/>
              </a:lnSpc>
              <a:buSzPct val="100000"/>
              <a:buChar char="•"/>
            </a:pPr>
            <a:endParaRPr lang="en-US" sz="2800" dirty="0"/>
          </a:p>
        </p:txBody>
      </p:sp>
      <p:sp>
        <p:nvSpPr>
          <p:cNvPr id="8" name="Text 5"/>
          <p:cNvSpPr/>
          <p:nvPr/>
        </p:nvSpPr>
        <p:spPr>
          <a:xfrm>
            <a:off x="811411" y="5102502"/>
            <a:ext cx="7521178" cy="370880"/>
          </a:xfrm>
          <a:prstGeom prst="rect">
            <a:avLst/>
          </a:prstGeom>
          <a:noFill/>
          <a:ln/>
        </p:spPr>
        <p:txBody>
          <a:bodyPr wrap="none" lIns="0" tIns="0" rIns="0" bIns="0" rtlCol="0" anchor="t"/>
          <a:lstStyle/>
          <a:p>
            <a:pPr marL="685800" lvl="1" indent="-342900" algn="l">
              <a:lnSpc>
                <a:spcPts val="2900"/>
              </a:lnSpc>
              <a:buSzPct val="100000"/>
              <a:buChar char="•"/>
            </a:pPr>
            <a:endParaRPr lang="en-US" sz="2800" dirty="0"/>
          </a:p>
        </p:txBody>
      </p:sp>
      <p:sp>
        <p:nvSpPr>
          <p:cNvPr id="9" name="Text 6"/>
          <p:cNvSpPr/>
          <p:nvPr/>
        </p:nvSpPr>
        <p:spPr>
          <a:xfrm>
            <a:off x="811411" y="5717533"/>
            <a:ext cx="7521178" cy="370880"/>
          </a:xfrm>
          <a:prstGeom prst="rect">
            <a:avLst/>
          </a:prstGeom>
          <a:noFill/>
          <a:ln/>
        </p:spPr>
        <p:txBody>
          <a:bodyPr wrap="none" lIns="0" tIns="0" rIns="0" bIns="0" rtlCol="0" anchor="t"/>
          <a:lstStyle/>
          <a:p>
            <a:pPr marL="342900" indent="-342900" algn="l">
              <a:lnSpc>
                <a:spcPts val="2900"/>
              </a:lnSpc>
              <a:buSzPct val="100000"/>
              <a:buChar char="•"/>
            </a:pPr>
            <a:endParaRPr lang="en-US" sz="2800" dirty="0"/>
          </a:p>
        </p:txBody>
      </p:sp>
      <p:sp>
        <p:nvSpPr>
          <p:cNvPr id="10" name="Text 7"/>
          <p:cNvSpPr/>
          <p:nvPr/>
        </p:nvSpPr>
        <p:spPr>
          <a:xfrm>
            <a:off x="811411" y="6332564"/>
            <a:ext cx="7521178" cy="370880"/>
          </a:xfrm>
          <a:prstGeom prst="rect">
            <a:avLst/>
          </a:prstGeom>
          <a:noFill/>
          <a:ln/>
        </p:spPr>
        <p:txBody>
          <a:bodyPr wrap="none" lIns="0" tIns="0" rIns="0" bIns="0" rtlCol="0" anchor="t"/>
          <a:lstStyle/>
          <a:p>
            <a:pPr marL="685800" lvl="1" indent="-342900" algn="l">
              <a:lnSpc>
                <a:spcPts val="2900"/>
              </a:lnSpc>
              <a:buSzPct val="100000"/>
              <a:buChar char="•"/>
            </a:pPr>
            <a:endParaRPr lang="en-US" sz="2800" dirty="0"/>
          </a:p>
        </p:txBody>
      </p:sp>
      <p:sp>
        <p:nvSpPr>
          <p:cNvPr id="11" name="Text 8"/>
          <p:cNvSpPr/>
          <p:nvPr/>
        </p:nvSpPr>
        <p:spPr>
          <a:xfrm>
            <a:off x="811411" y="6889206"/>
            <a:ext cx="7521178" cy="370880"/>
          </a:xfrm>
          <a:prstGeom prst="rect">
            <a:avLst/>
          </a:prstGeom>
          <a:noFill/>
          <a:ln/>
        </p:spPr>
        <p:txBody>
          <a:bodyPr wrap="none" lIns="0" tIns="0" rIns="0" bIns="0" rtlCol="0" anchor="t"/>
          <a:lstStyle/>
          <a:p>
            <a:pPr marL="685800" lvl="1" indent="-342900" algn="l">
              <a:lnSpc>
                <a:spcPts val="2900"/>
              </a:lnSpc>
              <a:buSzPct val="100000"/>
              <a:buChar char="•"/>
            </a:pPr>
            <a:endParaRPr lang="en-US" sz="1800" dirty="0"/>
          </a:p>
        </p:txBody>
      </p:sp>
      <p:sp>
        <p:nvSpPr>
          <p:cNvPr id="12" name="Text 9"/>
          <p:cNvSpPr/>
          <p:nvPr/>
        </p:nvSpPr>
        <p:spPr>
          <a:xfrm>
            <a:off x="811411" y="7409623"/>
            <a:ext cx="7521178" cy="370880"/>
          </a:xfrm>
          <a:prstGeom prst="rect">
            <a:avLst/>
          </a:prstGeom>
          <a:noFill/>
          <a:ln/>
        </p:spPr>
        <p:txBody>
          <a:bodyPr wrap="none" lIns="0" tIns="0" rIns="0" bIns="0" rtlCol="0" anchor="t"/>
          <a:lstStyle/>
          <a:p>
            <a:pPr marL="342900" indent="-342900" algn="l">
              <a:lnSpc>
                <a:spcPts val="2900"/>
              </a:lnSpc>
              <a:buSzPct val="100000"/>
              <a:buChar char="•"/>
            </a:pPr>
            <a:endParaRPr lang="en-US" sz="1800" dirty="0"/>
          </a:p>
        </p:txBody>
      </p:sp>
      <p:sp>
        <p:nvSpPr>
          <p:cNvPr id="13" name="Text 10"/>
          <p:cNvSpPr/>
          <p:nvPr/>
        </p:nvSpPr>
        <p:spPr>
          <a:xfrm>
            <a:off x="811411" y="7490705"/>
            <a:ext cx="7521178" cy="741759"/>
          </a:xfrm>
          <a:prstGeom prst="rect">
            <a:avLst/>
          </a:prstGeom>
          <a:noFill/>
          <a:ln/>
        </p:spPr>
        <p:txBody>
          <a:bodyPr wrap="square" lIns="0" tIns="0" rIns="0" bIns="0" rtlCol="0" anchor="t"/>
          <a:lstStyle/>
          <a:p>
            <a:pPr algn="l">
              <a:lnSpc>
                <a:spcPts val="2900"/>
              </a:lnSpc>
              <a:buSzPct val="100000"/>
            </a:pPr>
            <a:endParaRPr lang="en-US" sz="1800" dirty="0"/>
          </a:p>
        </p:txBody>
      </p:sp>
      <p:sp>
        <p:nvSpPr>
          <p:cNvPr id="19" name="TextBox 18">
            <a:extLst>
              <a:ext uri="{FF2B5EF4-FFF2-40B4-BE49-F238E27FC236}">
                <a16:creationId xmlns:a16="http://schemas.microsoft.com/office/drawing/2014/main" id="{074AC566-9C2A-376F-3944-FC2057214046}"/>
              </a:ext>
            </a:extLst>
          </p:cNvPr>
          <p:cNvSpPr txBox="1"/>
          <p:nvPr/>
        </p:nvSpPr>
        <p:spPr>
          <a:xfrm>
            <a:off x="2619377" y="691890"/>
            <a:ext cx="4695824" cy="584775"/>
          </a:xfrm>
          <a:prstGeom prst="rect">
            <a:avLst/>
          </a:prstGeom>
          <a:noFill/>
        </p:spPr>
        <p:txBody>
          <a:bodyPr wrap="square" rtlCol="0">
            <a:spAutoFit/>
          </a:bodyPr>
          <a:lstStyle/>
          <a:p>
            <a:r>
              <a:rPr lang="en-IN" sz="3200" b="1" dirty="0"/>
              <a:t>ABSTRACT</a:t>
            </a:r>
          </a:p>
        </p:txBody>
      </p:sp>
      <p:sp>
        <p:nvSpPr>
          <p:cNvPr id="20" name="Rectangle 4">
            <a:extLst>
              <a:ext uri="{FF2B5EF4-FFF2-40B4-BE49-F238E27FC236}">
                <a16:creationId xmlns:a16="http://schemas.microsoft.com/office/drawing/2014/main" id="{FE3B04FF-8C1A-566E-EB1A-AEDE27D17C8B}"/>
              </a:ext>
            </a:extLst>
          </p:cNvPr>
          <p:cNvSpPr>
            <a:spLocks noChangeArrowheads="1"/>
          </p:cNvSpPr>
          <p:nvPr/>
        </p:nvSpPr>
        <p:spPr bwMode="auto">
          <a:xfrm>
            <a:off x="67704" y="2011809"/>
            <a:ext cx="724749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Railway track defects can cause serious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accidents if not detected early.</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This project uses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R-CNN</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to automatically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i</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dentify track falls, cracks, and obstacles.  </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Detected defects are highlighted with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bounding boxes.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siren alarm alerts</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immediately when a</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defect is found.</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system improves railway safety through</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fast and accurate detection.</a:t>
            </a:r>
          </a:p>
          <a:p>
            <a:pPr marL="457200" lvl="0" indent="-457200" eaLnBrk="0" fontAlgn="base" hangingPunct="0">
              <a:spcBef>
                <a:spcPct val="0"/>
              </a:spcBef>
              <a:spcAft>
                <a:spcPct val="0"/>
              </a:spcAft>
              <a:buFont typeface="Courier New" panose="02070309020205020404" pitchFamily="49" charset="0"/>
              <a:buChar char="o"/>
            </a:pPr>
            <a:r>
              <a:rPr lang="en-US" sz="2800" dirty="0"/>
              <a:t> Helps reduce manual inspection effort and </a:t>
            </a:r>
          </a:p>
          <a:p>
            <a:pPr lvl="0" eaLnBrk="0" fontAlgn="base" hangingPunct="0">
              <a:spcBef>
                <a:spcPct val="0"/>
              </a:spcBef>
              <a:spcAft>
                <a:spcPct val="0"/>
              </a:spcAft>
            </a:pPr>
            <a:r>
              <a:rPr lang="en-US" sz="2800" dirty="0"/>
              <a:t>       supports predictive maintenance.</a:t>
            </a:r>
            <a:endPar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endParaRPr>
          </a:p>
        </p:txBody>
      </p:sp>
      <p:pic>
        <p:nvPicPr>
          <p:cNvPr id="1032" name="Picture 8" descr="Train Tracks Images – Browse 4,304,260 Stock Photos, Vectors, and Video |  Adobe Stock">
            <a:extLst>
              <a:ext uri="{FF2B5EF4-FFF2-40B4-BE49-F238E27FC236}">
                <a16:creationId xmlns:a16="http://schemas.microsoft.com/office/drawing/2014/main" id="{918C9BDE-0319-618B-ADC8-953969B87E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0242" y="617243"/>
            <a:ext cx="6160147" cy="64223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3" name="arrow.wav"/>
          </p:stSnd>
        </p:sndAc>
      </p:transition>
    </mc:Choice>
    <mc:Fallback xmlns="">
      <p:transition spd="slow">
        <p:fade/>
        <p:sndAc>
          <p:stSnd>
            <p:snd r:embed="rId5" name="arrow.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E80E0E-045A-5852-81E3-AEDE14874327}"/>
              </a:ext>
            </a:extLst>
          </p:cNvPr>
          <p:cNvSpPr/>
          <p:nvPr/>
        </p:nvSpPr>
        <p:spPr>
          <a:xfrm>
            <a:off x="3332749" y="320922"/>
            <a:ext cx="7724273"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0342A4-D1A1-24E1-5A2D-FA47E310AA49}"/>
              </a:ext>
            </a:extLst>
          </p:cNvPr>
          <p:cNvSpPr txBox="1"/>
          <p:nvPr/>
        </p:nvSpPr>
        <p:spPr>
          <a:xfrm>
            <a:off x="5759019" y="409510"/>
            <a:ext cx="5129561" cy="584775"/>
          </a:xfrm>
          <a:prstGeom prst="rect">
            <a:avLst/>
          </a:prstGeom>
          <a:noFill/>
        </p:spPr>
        <p:txBody>
          <a:bodyPr wrap="square" rtlCol="0">
            <a:spAutoFit/>
          </a:bodyPr>
          <a:lstStyle/>
          <a:p>
            <a:r>
              <a:rPr lang="en-IN" sz="3200" b="1" dirty="0"/>
              <a:t>INTRODUCTION</a:t>
            </a:r>
          </a:p>
        </p:txBody>
      </p:sp>
      <p:sp>
        <p:nvSpPr>
          <p:cNvPr id="6" name="Rectangle 1">
            <a:extLst>
              <a:ext uri="{FF2B5EF4-FFF2-40B4-BE49-F238E27FC236}">
                <a16:creationId xmlns:a16="http://schemas.microsoft.com/office/drawing/2014/main" id="{4EC9B7E5-786E-F559-2044-E9120EC45DAA}"/>
              </a:ext>
            </a:extLst>
          </p:cNvPr>
          <p:cNvSpPr>
            <a:spLocks noChangeArrowheads="1"/>
          </p:cNvSpPr>
          <p:nvPr/>
        </p:nvSpPr>
        <p:spPr bwMode="auto">
          <a:xfrm>
            <a:off x="6100175" y="1238093"/>
            <a:ext cx="8655485"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Railway networks are one of the most widely used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transportation systems and require high safety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standards.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Even small defects on the track can lead to major failures if not detected early.</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Traditional inspection methods depend on manual checking,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which is time-consuming and cannot cover long</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routes efficiently.</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With the growth of technology, AI and computer vision offer a modern way to observe track conditions continuously.</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Implementing automated detection systems helps railway authorities improve monitoring, reduce human error, and respond quickly to risks.</a:t>
            </a:r>
          </a:p>
        </p:txBody>
      </p:sp>
      <p:pic>
        <p:nvPicPr>
          <p:cNvPr id="10" name="Picture 9">
            <a:extLst>
              <a:ext uri="{FF2B5EF4-FFF2-40B4-BE49-F238E27FC236}">
                <a16:creationId xmlns:a16="http://schemas.microsoft.com/office/drawing/2014/main" id="{7D0439D1-7037-2F89-7D64-01E1B0A62A44}"/>
              </a:ext>
            </a:extLst>
          </p:cNvPr>
          <p:cNvPicPr>
            <a:picLocks noChangeAspect="1"/>
          </p:cNvPicPr>
          <p:nvPr/>
        </p:nvPicPr>
        <p:blipFill>
          <a:blip r:embed="rId3"/>
          <a:stretch>
            <a:fillRect/>
          </a:stretch>
        </p:blipFill>
        <p:spPr>
          <a:xfrm>
            <a:off x="688931" y="1778696"/>
            <a:ext cx="5070087" cy="5825262"/>
          </a:xfrm>
          <a:prstGeom prst="rect">
            <a:avLst/>
          </a:prstGeom>
        </p:spPr>
      </p:pic>
    </p:spTree>
    <p:extLst>
      <p:ext uri="{BB962C8B-B14F-4D97-AF65-F5344CB8AC3E}">
        <p14:creationId xmlns:p14="http://schemas.microsoft.com/office/powerpoint/2010/main" val="136555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4" name="arrow.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3" name="Ink 12">
                <a:extLst>
                  <a:ext uri="{FF2B5EF4-FFF2-40B4-BE49-F238E27FC236}">
                    <a16:creationId xmlns:a16="http://schemas.microsoft.com/office/drawing/2014/main" id="{62A92763-7AD9-3A08-822C-62A9A5768044}"/>
                  </a:ext>
                </a:extLst>
              </p14:cNvPr>
              <p14:cNvContentPartPr/>
              <p14:nvPr/>
            </p14:nvContentPartPr>
            <p14:xfrm>
              <a:off x="7243295" y="4102636"/>
              <a:ext cx="360" cy="360"/>
            </p14:xfrm>
          </p:contentPart>
        </mc:Choice>
        <mc:Fallback xmlns="">
          <p:pic>
            <p:nvPicPr>
              <p:cNvPr id="13" name="Ink 12">
                <a:extLst>
                  <a:ext uri="{FF2B5EF4-FFF2-40B4-BE49-F238E27FC236}">
                    <a16:creationId xmlns:a16="http://schemas.microsoft.com/office/drawing/2014/main" id="{62A92763-7AD9-3A08-822C-62A9A5768044}"/>
                  </a:ext>
                </a:extLst>
              </p:cNvPr>
              <p:cNvPicPr/>
              <p:nvPr/>
            </p:nvPicPr>
            <p:blipFill>
              <a:blip r:embed="rId4"/>
              <a:stretch>
                <a:fillRect/>
              </a:stretch>
            </p:blipFill>
            <p:spPr>
              <a:xfrm>
                <a:off x="7234295" y="4048636"/>
                <a:ext cx="18000" cy="108000"/>
              </a:xfrm>
              <a:prstGeom prst="rect">
                <a:avLst/>
              </a:prstGeom>
            </p:spPr>
          </p:pic>
        </mc:Fallback>
      </mc:AlternateContent>
      <p:sp>
        <p:nvSpPr>
          <p:cNvPr id="2" name="Rectangle 1">
            <a:extLst>
              <a:ext uri="{FF2B5EF4-FFF2-40B4-BE49-F238E27FC236}">
                <a16:creationId xmlns:a16="http://schemas.microsoft.com/office/drawing/2014/main" id="{D633B552-C427-FD40-23DE-41461A57FDAD}"/>
              </a:ext>
            </a:extLst>
          </p:cNvPr>
          <p:cNvSpPr/>
          <p:nvPr/>
        </p:nvSpPr>
        <p:spPr>
          <a:xfrm>
            <a:off x="8070" y="895459"/>
            <a:ext cx="7724273"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0732FA-DFD6-45B3-08B8-2AF1D1B68967}"/>
              </a:ext>
            </a:extLst>
          </p:cNvPr>
          <p:cNvSpPr txBox="1"/>
          <p:nvPr/>
        </p:nvSpPr>
        <p:spPr>
          <a:xfrm>
            <a:off x="2502105" y="984729"/>
            <a:ext cx="6207615" cy="584775"/>
          </a:xfrm>
          <a:prstGeom prst="rect">
            <a:avLst/>
          </a:prstGeom>
          <a:noFill/>
        </p:spPr>
        <p:txBody>
          <a:bodyPr wrap="square" rtlCol="0">
            <a:spAutoFit/>
          </a:bodyPr>
          <a:lstStyle/>
          <a:p>
            <a:r>
              <a:rPr lang="en-IN" sz="3200" b="1" dirty="0"/>
              <a:t>OBJECTIVE</a:t>
            </a:r>
          </a:p>
        </p:txBody>
      </p:sp>
      <p:sp>
        <p:nvSpPr>
          <p:cNvPr id="3" name="Rectangle 1">
            <a:extLst>
              <a:ext uri="{FF2B5EF4-FFF2-40B4-BE49-F238E27FC236}">
                <a16:creationId xmlns:a16="http://schemas.microsoft.com/office/drawing/2014/main" id="{34FC019E-BFA3-A9CD-73EC-7C63F9BF723A}"/>
              </a:ext>
            </a:extLst>
          </p:cNvPr>
          <p:cNvSpPr>
            <a:spLocks noChangeArrowheads="1"/>
          </p:cNvSpPr>
          <p:nvPr/>
        </p:nvSpPr>
        <p:spPr bwMode="auto">
          <a:xfrm>
            <a:off x="651354" y="2170983"/>
            <a:ext cx="756967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To detect railway track falls, cracks, and </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obstacles using R-CNN.</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To accurately locate defects with </a:t>
            </a:r>
            <a:endParaRPr lang="en-US" altLang="en-US" sz="2800" dirty="0">
              <a:latin typeface="Source Sans Pro" panose="020B0503030403020204" pitchFamily="34" charset="0"/>
              <a:ea typeface="Source Sans Pro" panose="020B0503030403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bounding boxes.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To automate monitoring and reduce manual</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inspection effort.</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To provide a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siren alarm alert</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when defects are detected.</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To improve railway safety through real-time detection.</a:t>
            </a:r>
          </a:p>
        </p:txBody>
      </p:sp>
      <p:pic>
        <p:nvPicPr>
          <p:cNvPr id="7" name="Picture 6" descr="A rainbow colored object on the ground&#10;&#10;AI-generated content may be incorrect.">
            <a:extLst>
              <a:ext uri="{FF2B5EF4-FFF2-40B4-BE49-F238E27FC236}">
                <a16:creationId xmlns:a16="http://schemas.microsoft.com/office/drawing/2014/main" id="{08C8EB60-E7BF-8606-4E4A-E2AAB8EBF7D8}"/>
              </a:ext>
            </a:extLst>
          </p:cNvPr>
          <p:cNvPicPr>
            <a:picLocks noChangeAspect="1"/>
          </p:cNvPicPr>
          <p:nvPr/>
        </p:nvPicPr>
        <p:blipFill>
          <a:blip r:embed="rId5"/>
          <a:stretch>
            <a:fillRect/>
          </a:stretch>
        </p:blipFill>
        <p:spPr>
          <a:xfrm>
            <a:off x="8221032" y="1051587"/>
            <a:ext cx="6287377" cy="6564042"/>
          </a:xfrm>
          <a:prstGeom prst="rect">
            <a:avLst/>
          </a:prstGeom>
        </p:spPr>
      </p:pic>
    </p:spTree>
    <p:extLst>
      <p:ext uri="{BB962C8B-B14F-4D97-AF65-F5344CB8AC3E}">
        <p14:creationId xmlns:p14="http://schemas.microsoft.com/office/powerpoint/2010/main" val="7223457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6" name="arrow.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6B039A8-A1C0-0E51-E65C-E095851C754D}"/>
              </a:ext>
            </a:extLst>
          </p:cNvPr>
          <p:cNvSpPr txBox="1"/>
          <p:nvPr/>
        </p:nvSpPr>
        <p:spPr>
          <a:xfrm>
            <a:off x="918773" y="3743725"/>
            <a:ext cx="7477201" cy="1231106"/>
          </a:xfrm>
          <a:prstGeom prst="rect">
            <a:avLst/>
          </a:prstGeom>
          <a:noFill/>
        </p:spPr>
        <p:txBody>
          <a:bodyPr wrap="square" rtlCol="0">
            <a:spAutoFit/>
          </a:bodyPr>
          <a:lstStyle/>
          <a:p>
            <a:endParaRPr lang="en-US" sz="2400" b="1" kern="0" spc="-37" dirty="0">
              <a:solidFill>
                <a:srgbClr val="272525"/>
              </a:solidFill>
              <a:effectLst>
                <a:outerShdw blurRad="38100" dist="38100" dir="2700000" algn="tl">
                  <a:srgbClr val="000000">
                    <a:alpha val="43137"/>
                  </a:srgbClr>
                </a:outerShdw>
              </a:effectLst>
              <a:latin typeface="Source Sans Pro" pitchFamily="34" charset="0"/>
              <a:ea typeface="Source Sans Pro" pitchFamily="34" charset="-122"/>
            </a:endParaRPr>
          </a:p>
          <a:p>
            <a:endParaRPr lang="en-US" sz="2400" b="1" kern="0" spc="-37" dirty="0">
              <a:solidFill>
                <a:srgbClr val="272525"/>
              </a:solidFill>
              <a:effectLst>
                <a:outerShdw blurRad="38100" dist="38100" dir="2700000" algn="tl">
                  <a:srgbClr val="000000">
                    <a:alpha val="43137"/>
                  </a:srgbClr>
                </a:outerShdw>
              </a:effectLst>
              <a:latin typeface="Source Sans Pro" pitchFamily="34" charset="0"/>
              <a:ea typeface="Source Sans Pro" pitchFamily="34" charset="-122"/>
            </a:endParaRPr>
          </a:p>
          <a:p>
            <a:r>
              <a:rPr lang="en-US" sz="2600" b="1" u="sng" kern="0" spc="-37" dirty="0">
                <a:effectLst>
                  <a:outerShdw blurRad="38100" dist="38100" dir="2700000" algn="tl">
                    <a:srgbClr val="000000">
                      <a:alpha val="43137"/>
                    </a:srgbClr>
                  </a:outerShdw>
                </a:effectLst>
                <a:latin typeface="Source Sans Pro" pitchFamily="34" charset="0"/>
                <a:ea typeface="Source Sans Pro" pitchFamily="34" charset="-122"/>
              </a:rPr>
              <a:t>Limitations of the Existing System:</a:t>
            </a:r>
          </a:p>
        </p:txBody>
      </p:sp>
      <p:sp>
        <p:nvSpPr>
          <p:cNvPr id="3" name="Rectangle 2">
            <a:extLst>
              <a:ext uri="{FF2B5EF4-FFF2-40B4-BE49-F238E27FC236}">
                <a16:creationId xmlns:a16="http://schemas.microsoft.com/office/drawing/2014/main" id="{78377E0A-9545-C286-A1F1-110EB7FF60D5}"/>
              </a:ext>
            </a:extLst>
          </p:cNvPr>
          <p:cNvSpPr/>
          <p:nvPr/>
        </p:nvSpPr>
        <p:spPr>
          <a:xfrm>
            <a:off x="0" y="773702"/>
            <a:ext cx="7724273"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a:extLst>
              <a:ext uri="{FF2B5EF4-FFF2-40B4-BE49-F238E27FC236}">
                <a16:creationId xmlns:a16="http://schemas.microsoft.com/office/drawing/2014/main" id="{3BBA9E0F-C541-F7DE-0839-BEDEC43CBFEB}"/>
              </a:ext>
            </a:extLst>
          </p:cNvPr>
          <p:cNvSpPr txBox="1"/>
          <p:nvPr/>
        </p:nvSpPr>
        <p:spPr>
          <a:xfrm>
            <a:off x="2062975" y="862292"/>
            <a:ext cx="7060204" cy="584775"/>
          </a:xfrm>
          <a:prstGeom prst="rect">
            <a:avLst/>
          </a:prstGeom>
          <a:noFill/>
        </p:spPr>
        <p:txBody>
          <a:bodyPr wrap="square" rtlCol="0">
            <a:spAutoFit/>
          </a:bodyPr>
          <a:lstStyle/>
          <a:p>
            <a:r>
              <a:rPr lang="en-IN" sz="3200" b="1" dirty="0"/>
              <a:t>EXISTING SYSTEM</a:t>
            </a:r>
          </a:p>
        </p:txBody>
      </p:sp>
      <p:sp>
        <p:nvSpPr>
          <p:cNvPr id="4" name="Rectangle 1">
            <a:extLst>
              <a:ext uri="{FF2B5EF4-FFF2-40B4-BE49-F238E27FC236}">
                <a16:creationId xmlns:a16="http://schemas.microsoft.com/office/drawing/2014/main" id="{E3E5E8CE-239C-03E1-0D5E-C808E3601C6F}"/>
              </a:ext>
            </a:extLst>
          </p:cNvPr>
          <p:cNvSpPr>
            <a:spLocks noChangeArrowheads="1"/>
          </p:cNvSpPr>
          <p:nvPr/>
        </p:nvSpPr>
        <p:spPr bwMode="auto">
          <a:xfrm>
            <a:off x="407396" y="1783410"/>
            <a:ext cx="706020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Manual inspection of railway tracks by workers.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Sensor-based methods (ultrasonic, vibration sensors).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CCTV surveillance along railway lines.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Traditional image processing techniques </a:t>
            </a:r>
          </a:p>
        </p:txBody>
      </p:sp>
      <p:sp>
        <p:nvSpPr>
          <p:cNvPr id="5" name="Rectangle 2">
            <a:extLst>
              <a:ext uri="{FF2B5EF4-FFF2-40B4-BE49-F238E27FC236}">
                <a16:creationId xmlns:a16="http://schemas.microsoft.com/office/drawing/2014/main" id="{DDA26090-9488-192E-D37A-DF389E725435}"/>
              </a:ext>
            </a:extLst>
          </p:cNvPr>
          <p:cNvSpPr>
            <a:spLocks noChangeArrowheads="1"/>
          </p:cNvSpPr>
          <p:nvPr/>
        </p:nvSpPr>
        <p:spPr bwMode="auto">
          <a:xfrm>
            <a:off x="464084" y="4961384"/>
            <a:ext cx="837929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Slow and not suitable for long railway routes.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Highly dependent on human judgment → errors possible.</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Sensors cannot detect all types of external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defects.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CCTV requires manual monitoring, not real-time detection.</a:t>
            </a:r>
          </a:p>
        </p:txBody>
      </p:sp>
      <p:sp>
        <p:nvSpPr>
          <p:cNvPr id="7" name="AutoShape 2">
            <a:extLst>
              <a:ext uri="{FF2B5EF4-FFF2-40B4-BE49-F238E27FC236}">
                <a16:creationId xmlns:a16="http://schemas.microsoft.com/office/drawing/2014/main" id="{2C7DF06F-713A-2340-34A9-389D9E67C500}"/>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9DCB2FF3-45F2-27FA-B155-C18734921FA6}"/>
              </a:ext>
            </a:extLst>
          </p:cNvPr>
          <p:cNvPicPr>
            <a:picLocks noChangeAspect="1"/>
          </p:cNvPicPr>
          <p:nvPr/>
        </p:nvPicPr>
        <p:blipFill>
          <a:blip r:embed="rId3"/>
          <a:stretch>
            <a:fillRect/>
          </a:stretch>
        </p:blipFill>
        <p:spPr>
          <a:xfrm>
            <a:off x="8505173" y="676406"/>
            <a:ext cx="5793193" cy="6690902"/>
          </a:xfrm>
          <a:prstGeom prst="rect">
            <a:avLst/>
          </a:prstGeom>
        </p:spPr>
      </p:pic>
    </p:spTree>
    <p:extLst>
      <p:ext uri="{BB962C8B-B14F-4D97-AF65-F5344CB8AC3E}">
        <p14:creationId xmlns:p14="http://schemas.microsoft.com/office/powerpoint/2010/main" val="38796781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4" name="arrow.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3" name="Text 11"/>
          <p:cNvSpPr/>
          <p:nvPr/>
        </p:nvSpPr>
        <p:spPr>
          <a:xfrm>
            <a:off x="9337358" y="1919288"/>
            <a:ext cx="4331732" cy="387072"/>
          </a:xfrm>
          <a:prstGeom prst="rect">
            <a:avLst/>
          </a:prstGeom>
          <a:noFill/>
          <a:ln/>
        </p:spPr>
        <p:txBody>
          <a:bodyPr wrap="none" lIns="0" tIns="0" rIns="0" bIns="0" rtlCol="0" anchor="t"/>
          <a:lstStyle/>
          <a:p>
            <a:pPr marL="0" indent="0" algn="l">
              <a:lnSpc>
                <a:spcPts val="2950"/>
              </a:lnSpc>
              <a:buNone/>
            </a:pPr>
            <a:endParaRPr lang="en-US" sz="1850" dirty="0"/>
          </a:p>
        </p:txBody>
      </p:sp>
      <p:sp>
        <p:nvSpPr>
          <p:cNvPr id="15" name="Text 12"/>
          <p:cNvSpPr/>
          <p:nvPr/>
        </p:nvSpPr>
        <p:spPr>
          <a:xfrm>
            <a:off x="9337358" y="7002066"/>
            <a:ext cx="4331732" cy="379452"/>
          </a:xfrm>
          <a:prstGeom prst="rect">
            <a:avLst/>
          </a:prstGeom>
          <a:noFill/>
          <a:ln/>
        </p:spPr>
        <p:txBody>
          <a:bodyPr wrap="none" lIns="0" tIns="0" rIns="0" bIns="0" rtlCol="0" anchor="t"/>
          <a:lstStyle/>
          <a:p>
            <a:pPr marL="0" indent="0" algn="l">
              <a:lnSpc>
                <a:spcPts val="2950"/>
              </a:lnSpc>
              <a:buNone/>
            </a:pPr>
            <a:r>
              <a:rPr lang="en-US" sz="1850" kern="0" spc="-37" dirty="0">
                <a:solidFill>
                  <a:srgbClr val="272525"/>
                </a:solidFill>
                <a:latin typeface="Source Sans Pro" pitchFamily="34" charset="0"/>
                <a:ea typeface="Source Sans Pro" pitchFamily="34" charset="-122"/>
                <a:cs typeface="Source Sans Pro" pitchFamily="34" charset="-120"/>
              </a:rPr>
              <a:t> </a:t>
            </a:r>
            <a:endParaRPr lang="en-US" sz="1850" dirty="0"/>
          </a:p>
        </p:txBody>
      </p:sp>
      <p:sp>
        <p:nvSpPr>
          <p:cNvPr id="2" name="Rectangle 1">
            <a:extLst>
              <a:ext uri="{FF2B5EF4-FFF2-40B4-BE49-F238E27FC236}">
                <a16:creationId xmlns:a16="http://schemas.microsoft.com/office/drawing/2014/main" id="{78377E0A-9545-C286-A1F1-110EB7FF60D5}"/>
              </a:ext>
            </a:extLst>
          </p:cNvPr>
          <p:cNvSpPr/>
          <p:nvPr/>
        </p:nvSpPr>
        <p:spPr>
          <a:xfrm>
            <a:off x="3031958" y="290716"/>
            <a:ext cx="8193505"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TextBox 21">
            <a:extLst>
              <a:ext uri="{FF2B5EF4-FFF2-40B4-BE49-F238E27FC236}">
                <a16:creationId xmlns:a16="http://schemas.microsoft.com/office/drawing/2014/main" id="{BC99EFF2-C577-4075-779D-3F68CE76FAE4}"/>
              </a:ext>
            </a:extLst>
          </p:cNvPr>
          <p:cNvSpPr txBox="1"/>
          <p:nvPr/>
        </p:nvSpPr>
        <p:spPr>
          <a:xfrm>
            <a:off x="4270740" y="379104"/>
            <a:ext cx="7627434" cy="584775"/>
          </a:xfrm>
          <a:prstGeom prst="rect">
            <a:avLst/>
          </a:prstGeom>
          <a:noFill/>
        </p:spPr>
        <p:txBody>
          <a:bodyPr wrap="square" rtlCol="0">
            <a:spAutoFit/>
          </a:bodyPr>
          <a:lstStyle/>
          <a:p>
            <a:r>
              <a:rPr lang="en-US" sz="3200" b="1" dirty="0"/>
              <a:t>       PROPOSED APPROACH</a:t>
            </a:r>
            <a:endParaRPr lang="en-IN" dirty="0"/>
          </a:p>
        </p:txBody>
      </p:sp>
      <p:sp>
        <p:nvSpPr>
          <p:cNvPr id="23" name="TextBox 22">
            <a:extLst>
              <a:ext uri="{FF2B5EF4-FFF2-40B4-BE49-F238E27FC236}">
                <a16:creationId xmlns:a16="http://schemas.microsoft.com/office/drawing/2014/main" id="{E5C146ED-9EA8-6E49-00FA-9E7F4983EE69}"/>
              </a:ext>
            </a:extLst>
          </p:cNvPr>
          <p:cNvSpPr txBox="1"/>
          <p:nvPr/>
        </p:nvSpPr>
        <p:spPr>
          <a:xfrm>
            <a:off x="801666" y="1315233"/>
            <a:ext cx="12776548" cy="6309420"/>
          </a:xfrm>
          <a:prstGeom prst="rect">
            <a:avLst/>
          </a:prstGeom>
          <a:noFill/>
        </p:spPr>
        <p:txBody>
          <a:bodyPr wrap="square" rtlCol="0">
            <a:spAutoFit/>
          </a:bodyPr>
          <a:lstStyle/>
          <a:p>
            <a:endParaRPr lang="en-IN" sz="3600" b="1" dirty="0"/>
          </a:p>
          <a:p>
            <a:r>
              <a:rPr lang="en-US" sz="3600" b="1" dirty="0"/>
              <a:t>⭐ Why R-CNN for Railway Track Fall Detection</a:t>
            </a:r>
          </a:p>
          <a:p>
            <a:endParaRPr lang="en-US" sz="3600" b="1" dirty="0"/>
          </a:p>
          <a:p>
            <a:r>
              <a:rPr lang="en-US" sz="3600" b="1" dirty="0"/>
              <a:t>     </a:t>
            </a:r>
            <a:r>
              <a:rPr lang="en-IN" sz="2800" b="1" u="sng" dirty="0">
                <a:latin typeface="Source Sans Pro" panose="020B0503030403020204" pitchFamily="34" charset="0"/>
                <a:ea typeface="Source Sans Pro" panose="020B0503030403020204" pitchFamily="34" charset="0"/>
              </a:rPr>
              <a:t>Steps Involved:</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Capture railway track images/videos using cameras.</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Preprocess data (resizing, normalization).</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Use R-CNN to generate region proposals.</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Extract features using CNN.</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Classify regions as normal track or faulty track.</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Localize faults such as cracks, breaks, or missing tracks.</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Send alerts for maintenance action.</a:t>
            </a:r>
          </a:p>
          <a:p>
            <a:endParaRPr lang="en-IN" sz="36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3" name="arrow.wav"/>
          </p:stSnd>
        </p:sndAc>
      </p:transition>
    </mc:Choice>
    <mc:Fallback xmlns="">
      <p:transition spd="slow">
        <p:fade/>
        <p:sndAc>
          <p:stSnd>
            <p:snd r:embed="rId4" name="arrow.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6EE6-08EE-4770-A364-EAEA0A95F91A}"/>
            </a:ext>
          </a:extLst>
        </p:cNvPr>
        <p:cNvGrpSpPr/>
        <p:nvPr/>
      </p:nvGrpSpPr>
      <p:grpSpPr>
        <a:xfrm>
          <a:off x="0" y="0"/>
          <a:ext cx="0" cy="0"/>
          <a:chOff x="0" y="0"/>
          <a:chExt cx="0" cy="0"/>
        </a:xfrm>
      </p:grpSpPr>
      <p:sp>
        <p:nvSpPr>
          <p:cNvPr id="13" name="Text 11">
            <a:extLst>
              <a:ext uri="{FF2B5EF4-FFF2-40B4-BE49-F238E27FC236}">
                <a16:creationId xmlns:a16="http://schemas.microsoft.com/office/drawing/2014/main" id="{F8C1924E-29CC-37CF-D6F4-963C3112923B}"/>
              </a:ext>
            </a:extLst>
          </p:cNvPr>
          <p:cNvSpPr/>
          <p:nvPr/>
        </p:nvSpPr>
        <p:spPr>
          <a:xfrm>
            <a:off x="9337358" y="1919288"/>
            <a:ext cx="4331732" cy="387072"/>
          </a:xfrm>
          <a:prstGeom prst="rect">
            <a:avLst/>
          </a:prstGeom>
          <a:noFill/>
          <a:ln/>
        </p:spPr>
        <p:txBody>
          <a:bodyPr wrap="none" lIns="0" tIns="0" rIns="0" bIns="0" rtlCol="0" anchor="t"/>
          <a:lstStyle/>
          <a:p>
            <a:pPr marL="0" indent="0" algn="l">
              <a:lnSpc>
                <a:spcPts val="2950"/>
              </a:lnSpc>
              <a:buNone/>
            </a:pPr>
            <a:endParaRPr lang="en-US" sz="1850" dirty="0"/>
          </a:p>
        </p:txBody>
      </p:sp>
      <p:sp>
        <p:nvSpPr>
          <p:cNvPr id="15" name="Text 12">
            <a:extLst>
              <a:ext uri="{FF2B5EF4-FFF2-40B4-BE49-F238E27FC236}">
                <a16:creationId xmlns:a16="http://schemas.microsoft.com/office/drawing/2014/main" id="{B7339EDC-F6EE-A9F8-C56B-429A3A30D1BB}"/>
              </a:ext>
            </a:extLst>
          </p:cNvPr>
          <p:cNvSpPr/>
          <p:nvPr/>
        </p:nvSpPr>
        <p:spPr>
          <a:xfrm>
            <a:off x="9337358" y="7002066"/>
            <a:ext cx="4331732" cy="379452"/>
          </a:xfrm>
          <a:prstGeom prst="rect">
            <a:avLst/>
          </a:prstGeom>
          <a:noFill/>
          <a:ln/>
        </p:spPr>
        <p:txBody>
          <a:bodyPr wrap="none" lIns="0" tIns="0" rIns="0" bIns="0" rtlCol="0" anchor="t"/>
          <a:lstStyle/>
          <a:p>
            <a:pPr marL="0" indent="0" algn="l">
              <a:lnSpc>
                <a:spcPts val="2950"/>
              </a:lnSpc>
              <a:buNone/>
            </a:pPr>
            <a:r>
              <a:rPr lang="en-US" sz="1850" kern="0" spc="-37" dirty="0">
                <a:solidFill>
                  <a:srgbClr val="272525"/>
                </a:solidFill>
                <a:latin typeface="Source Sans Pro" pitchFamily="34" charset="0"/>
                <a:ea typeface="Source Sans Pro" pitchFamily="34" charset="-122"/>
                <a:cs typeface="Source Sans Pro" pitchFamily="34" charset="-120"/>
              </a:rPr>
              <a:t> </a:t>
            </a:r>
            <a:endParaRPr lang="en-US" sz="1850" dirty="0"/>
          </a:p>
        </p:txBody>
      </p:sp>
      <p:sp>
        <p:nvSpPr>
          <p:cNvPr id="2" name="Rectangle 1">
            <a:extLst>
              <a:ext uri="{FF2B5EF4-FFF2-40B4-BE49-F238E27FC236}">
                <a16:creationId xmlns:a16="http://schemas.microsoft.com/office/drawing/2014/main" id="{78377E0A-9545-C286-A1F1-110EB7FF60D5}"/>
              </a:ext>
            </a:extLst>
          </p:cNvPr>
          <p:cNvSpPr/>
          <p:nvPr/>
        </p:nvSpPr>
        <p:spPr>
          <a:xfrm>
            <a:off x="2225842" y="276343"/>
            <a:ext cx="10431379"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TextBox 21">
            <a:extLst>
              <a:ext uri="{FF2B5EF4-FFF2-40B4-BE49-F238E27FC236}">
                <a16:creationId xmlns:a16="http://schemas.microsoft.com/office/drawing/2014/main" id="{69F66A60-D685-3BC4-4558-78806EBED97F}"/>
              </a:ext>
            </a:extLst>
          </p:cNvPr>
          <p:cNvSpPr txBox="1"/>
          <p:nvPr/>
        </p:nvSpPr>
        <p:spPr>
          <a:xfrm>
            <a:off x="3922469" y="356367"/>
            <a:ext cx="8818854" cy="1354217"/>
          </a:xfrm>
          <a:prstGeom prst="rect">
            <a:avLst/>
          </a:prstGeom>
          <a:noFill/>
        </p:spPr>
        <p:txBody>
          <a:bodyPr wrap="square" rtlCol="0">
            <a:spAutoFit/>
          </a:bodyPr>
          <a:lstStyle/>
          <a:p>
            <a:r>
              <a:rPr lang="en-US" sz="3200" b="1" dirty="0"/>
              <a:t>             PROPOSED APPROACH</a:t>
            </a:r>
          </a:p>
          <a:p>
            <a:endParaRPr lang="en-US" sz="3200" b="1" dirty="0"/>
          </a:p>
          <a:p>
            <a:endParaRPr lang="en-IN" dirty="0"/>
          </a:p>
        </p:txBody>
      </p:sp>
      <p:sp>
        <p:nvSpPr>
          <p:cNvPr id="4" name="AutoShape 2" descr="Deep Learning (Fast R-CNN)-Based Evaluation of Rail Surface Defects">
            <a:extLst>
              <a:ext uri="{FF2B5EF4-FFF2-40B4-BE49-F238E27FC236}">
                <a16:creationId xmlns:a16="http://schemas.microsoft.com/office/drawing/2014/main" id="{E36EBCCA-42E9-1D24-6D17-7ED06515F7D6}"/>
              </a:ext>
            </a:extLst>
          </p:cNvPr>
          <p:cNvSpPr>
            <a:spLocks noChangeAspect="1" noChangeArrowheads="1"/>
          </p:cNvSpPr>
          <p:nvPr/>
        </p:nvSpPr>
        <p:spPr bwMode="auto">
          <a:xfrm>
            <a:off x="3908121" y="707721"/>
            <a:ext cx="3559479" cy="355947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Deep Learning (Fast R-CNN)-Based Evaluation of Rail Surface Defects">
            <a:extLst>
              <a:ext uri="{FF2B5EF4-FFF2-40B4-BE49-F238E27FC236}">
                <a16:creationId xmlns:a16="http://schemas.microsoft.com/office/drawing/2014/main" id="{465F7DEE-BD17-9D41-ACAA-7774FB1A7EE6}"/>
              </a:ext>
            </a:extLst>
          </p:cNvPr>
          <p:cNvSpPr>
            <a:spLocks noChangeAspect="1" noChangeArrowheads="1"/>
          </p:cNvSpPr>
          <p:nvPr/>
        </p:nvSpPr>
        <p:spPr bwMode="auto">
          <a:xfrm>
            <a:off x="3043825" y="-156575"/>
            <a:ext cx="5185775" cy="51857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508543D7-49BE-D994-8623-D29B1130059C}"/>
              </a:ext>
            </a:extLst>
          </p:cNvPr>
          <p:cNvPicPr>
            <a:picLocks noChangeAspect="1"/>
          </p:cNvPicPr>
          <p:nvPr/>
        </p:nvPicPr>
        <p:blipFill>
          <a:blip r:embed="rId4"/>
          <a:stretch>
            <a:fillRect/>
          </a:stretch>
        </p:blipFill>
        <p:spPr>
          <a:xfrm>
            <a:off x="1540701" y="1569494"/>
            <a:ext cx="11373633" cy="5812023"/>
          </a:xfrm>
          <a:prstGeom prst="rect">
            <a:avLst/>
          </a:prstGeom>
        </p:spPr>
      </p:pic>
    </p:spTree>
    <p:extLst>
      <p:ext uri="{BB962C8B-B14F-4D97-AF65-F5344CB8AC3E}">
        <p14:creationId xmlns:p14="http://schemas.microsoft.com/office/powerpoint/2010/main" val="31418062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3" name="arrow.wav"/>
          </p:stSnd>
        </p:sndAc>
      </p:transition>
    </mc:Choice>
    <mc:Fallback xmlns="">
      <p:transition spd="slow">
        <p:fade/>
        <p:sndAc>
          <p:stSnd>
            <p:snd r:embed="rId5" name="arrow.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7E9385-73D7-9A38-9876-2E01B4AA8641}"/>
              </a:ext>
            </a:extLst>
          </p:cNvPr>
          <p:cNvSpPr/>
          <p:nvPr/>
        </p:nvSpPr>
        <p:spPr>
          <a:xfrm>
            <a:off x="2370221" y="294536"/>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 1"/>
          <p:cNvSpPr/>
          <p:nvPr/>
        </p:nvSpPr>
        <p:spPr>
          <a:xfrm>
            <a:off x="597595" y="1754248"/>
            <a:ext cx="12692896" cy="395049"/>
          </a:xfrm>
          <a:prstGeom prst="rect">
            <a:avLst/>
          </a:prstGeom>
          <a:noFill/>
          <a:ln/>
        </p:spPr>
        <p:txBody>
          <a:bodyPr wrap="none" lIns="0" tIns="0" rIns="0" bIns="0" rtlCol="0" anchor="t"/>
          <a:lstStyle/>
          <a:p>
            <a:pPr marL="342900" indent="-342900" algn="l">
              <a:lnSpc>
                <a:spcPts val="3100"/>
              </a:lnSpc>
              <a:buSzPct val="100000"/>
              <a:buChar char="•"/>
            </a:pPr>
            <a:endParaRPr lang="en-US" sz="3600" dirty="0">
              <a:effectLst>
                <a:outerShdw blurRad="38100" dist="38100" dir="2700000" algn="tl">
                  <a:srgbClr val="000000">
                    <a:alpha val="43137"/>
                  </a:srgbClr>
                </a:outerShdw>
              </a:effectLst>
            </a:endParaRPr>
          </a:p>
        </p:txBody>
      </p:sp>
      <p:sp>
        <p:nvSpPr>
          <p:cNvPr id="4" name="Text 2"/>
          <p:cNvSpPr/>
          <p:nvPr/>
        </p:nvSpPr>
        <p:spPr>
          <a:xfrm>
            <a:off x="2553698" y="1596560"/>
            <a:ext cx="12908795" cy="5438626"/>
          </a:xfrm>
          <a:prstGeom prst="rect">
            <a:avLst/>
          </a:prstGeom>
        </p:spPr>
        <p:txBody>
          <a:bodyPr wrap="none" lIns="0" tIns="0" rIns="0" bIns="0" rtlCol="0" anchor="t"/>
          <a:lstStyle/>
          <a:p>
            <a:r>
              <a:rPr lang="en-IN" sz="2800" b="1" dirty="0">
                <a:latin typeface="Source Sans Pro" panose="020B0503030403020204" pitchFamily="34" charset="0"/>
                <a:ea typeface="Source Sans Pro" panose="020B0503030403020204" pitchFamily="34" charset="0"/>
              </a:rPr>
              <a:t> </a:t>
            </a:r>
            <a:r>
              <a:rPr lang="en-IN" sz="2800" b="1" u="sng" dirty="0">
                <a:latin typeface="Source Sans Pro" panose="020B0503030403020204" pitchFamily="34" charset="0"/>
                <a:ea typeface="Source Sans Pro" panose="020B0503030403020204" pitchFamily="34" charset="0"/>
              </a:rPr>
              <a:t>Hardware Requirements  :</a:t>
            </a:r>
          </a:p>
          <a:p>
            <a:pPr marL="457200" indent="-457200">
              <a:buFont typeface="Courier New" panose="02070309020205020404" pitchFamily="49" charset="0"/>
              <a:buChar char="o"/>
            </a:pPr>
            <a:r>
              <a:rPr lang="en-IN" sz="2800" b="1" dirty="0">
                <a:latin typeface="Source Sans Pro" panose="020B0503030403020204" pitchFamily="34" charset="0"/>
                <a:ea typeface="Source Sans Pro" panose="020B0503030403020204" pitchFamily="34" charset="0"/>
              </a:rPr>
              <a:t> </a:t>
            </a:r>
            <a:r>
              <a:rPr lang="en-IN" sz="2800" dirty="0">
                <a:latin typeface="Source Sans Pro" panose="020B0503030403020204" pitchFamily="34" charset="0"/>
                <a:ea typeface="Source Sans Pro" panose="020B0503030403020204" pitchFamily="34" charset="0"/>
              </a:rPr>
              <a:t>Camera / Webcam</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Laptop/PC with 8–16 GB RAM</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GPU (optional but recommended for training)</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Speaker/Buzzer for siren alarm</a:t>
            </a:r>
          </a:p>
          <a:p>
            <a:br>
              <a:rPr lang="en-IN" sz="2800" dirty="0">
                <a:latin typeface="Source Sans Pro" panose="020B0503030403020204" pitchFamily="34" charset="0"/>
                <a:ea typeface="Source Sans Pro" panose="020B0503030403020204" pitchFamily="34" charset="0"/>
              </a:rPr>
            </a:br>
            <a:endParaRPr lang="en-IN" sz="2800" dirty="0">
              <a:latin typeface="Source Sans Pro" panose="020B0503030403020204" pitchFamily="34" charset="0"/>
              <a:ea typeface="Source Sans Pro" panose="020B0503030403020204" pitchFamily="34" charset="0"/>
            </a:endParaRPr>
          </a:p>
          <a:p>
            <a:r>
              <a:rPr lang="en-IN" sz="2800" b="1" u="sng" dirty="0">
                <a:latin typeface="Source Sans Pro" panose="020B0503030403020204" pitchFamily="34" charset="0"/>
                <a:ea typeface="Source Sans Pro" panose="020B0503030403020204" pitchFamily="34" charset="0"/>
              </a:rPr>
              <a:t>Software Requirements  :</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Windows / Linux OS</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Python 3.x</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TensorFlow, OpenCV</a:t>
            </a:r>
          </a:p>
          <a:p>
            <a:pPr marL="457200" indent="-457200">
              <a:buFont typeface="Courier New" panose="02070309020205020404" pitchFamily="49" charset="0"/>
              <a:buChar char="o"/>
            </a:pPr>
            <a:r>
              <a:rPr lang="en-IN" sz="2800" dirty="0" err="1">
                <a:latin typeface="Source Sans Pro" panose="020B0503030403020204" pitchFamily="34" charset="0"/>
                <a:ea typeface="Source Sans Pro" panose="020B0503030403020204" pitchFamily="34" charset="0"/>
              </a:rPr>
              <a:t>LabelImg</a:t>
            </a:r>
            <a:r>
              <a:rPr lang="en-IN" sz="2800" dirty="0">
                <a:latin typeface="Source Sans Pro" panose="020B0503030403020204" pitchFamily="34" charset="0"/>
                <a:ea typeface="Source Sans Pro" panose="020B0503030403020204" pitchFamily="34" charset="0"/>
              </a:rPr>
              <a:t> (for annotation)</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VS Code / </a:t>
            </a:r>
            <a:r>
              <a:rPr lang="en-IN" sz="2800" dirty="0" err="1">
                <a:latin typeface="Source Sans Pro" panose="020B0503030403020204" pitchFamily="34" charset="0"/>
                <a:ea typeface="Source Sans Pro" panose="020B0503030403020204" pitchFamily="34" charset="0"/>
              </a:rPr>
              <a:t>Jupyter</a:t>
            </a:r>
            <a:r>
              <a:rPr lang="en-IN" sz="2800" dirty="0">
                <a:latin typeface="Source Sans Pro" panose="020B0503030403020204" pitchFamily="34" charset="0"/>
                <a:ea typeface="Source Sans Pro" panose="020B0503030403020204" pitchFamily="34" charset="0"/>
              </a:rPr>
              <a:t> Notebook</a:t>
            </a:r>
          </a:p>
          <a:p>
            <a:pPr marL="800100" lvl="1" indent="-457200">
              <a:lnSpc>
                <a:spcPts val="3100"/>
              </a:lnSpc>
              <a:buSzPct val="100000"/>
              <a:buFont typeface="Wingdings" panose="05000000000000000000" pitchFamily="2" charset="2"/>
              <a:buChar char="§"/>
            </a:pPr>
            <a:endParaRPr lang="en-US" sz="2400" dirty="0"/>
          </a:p>
          <a:p>
            <a:pPr marL="800100" lvl="1" indent="-457200">
              <a:lnSpc>
                <a:spcPts val="3100"/>
              </a:lnSpc>
              <a:buSzPct val="100000"/>
              <a:buFont typeface="Wingdings" panose="05000000000000000000" pitchFamily="2" charset="2"/>
              <a:buChar char="§"/>
            </a:pPr>
            <a:endParaRPr lang="en-US" sz="3200" b="1" dirty="0">
              <a:effectLst>
                <a:outerShdw blurRad="38100" dist="38100" dir="2700000" algn="tl">
                  <a:srgbClr val="000000">
                    <a:alpha val="43137"/>
                  </a:srgbClr>
                </a:outerShdw>
              </a:effectLst>
            </a:endParaRPr>
          </a:p>
          <a:p>
            <a:pPr marL="571500" lvl="1" indent="-571500">
              <a:lnSpc>
                <a:spcPts val="3100"/>
              </a:lnSpc>
              <a:buSzPct val="100000"/>
              <a:buFont typeface="Arial" panose="020B0604020202020204" pitchFamily="34" charset="0"/>
              <a:buChar char="•"/>
            </a:pPr>
            <a:endParaRPr lang="en-US" sz="2800" dirty="0"/>
          </a:p>
          <a:p>
            <a:pPr marL="342900" lvl="1" algn="l">
              <a:lnSpc>
                <a:spcPts val="3100"/>
              </a:lnSpc>
              <a:buSzPct val="100000"/>
            </a:pPr>
            <a:endParaRPr lang="en-US" sz="3200" b="1" dirty="0"/>
          </a:p>
        </p:txBody>
      </p:sp>
      <p:sp>
        <p:nvSpPr>
          <p:cNvPr id="5" name="Text 3"/>
          <p:cNvSpPr/>
          <p:nvPr/>
        </p:nvSpPr>
        <p:spPr>
          <a:xfrm>
            <a:off x="597595" y="3332711"/>
            <a:ext cx="12692896" cy="395049"/>
          </a:xfrm>
          <a:prstGeom prst="rect">
            <a:avLst/>
          </a:prstGeom>
          <a:noFill/>
          <a:ln/>
        </p:spPr>
        <p:txBody>
          <a:bodyPr wrap="none" lIns="0" tIns="0" rIns="0" bIns="0" rtlCol="0" anchor="t"/>
          <a:lstStyle/>
          <a:p>
            <a:pPr marL="685800" lvl="1" indent="-342900" algn="l">
              <a:lnSpc>
                <a:spcPts val="3100"/>
              </a:lnSpc>
              <a:buSzPct val="100000"/>
              <a:buChar char="•"/>
            </a:pPr>
            <a:endParaRPr lang="en-US" sz="1900" dirty="0"/>
          </a:p>
        </p:txBody>
      </p:sp>
      <p:sp>
        <p:nvSpPr>
          <p:cNvPr id="6" name="Text 4"/>
          <p:cNvSpPr/>
          <p:nvPr/>
        </p:nvSpPr>
        <p:spPr>
          <a:xfrm>
            <a:off x="597595" y="3689401"/>
            <a:ext cx="12692896" cy="395049"/>
          </a:xfrm>
          <a:prstGeom prst="rect">
            <a:avLst/>
          </a:prstGeom>
          <a:noFill/>
          <a:ln/>
        </p:spPr>
        <p:txBody>
          <a:bodyPr wrap="none" lIns="0" tIns="0" rIns="0" bIns="0" rtlCol="0" anchor="t"/>
          <a:lstStyle/>
          <a:p>
            <a:pPr marL="342900" indent="-342900" algn="l">
              <a:lnSpc>
                <a:spcPts val="3100"/>
              </a:lnSpc>
              <a:buSzPct val="100000"/>
              <a:buChar char="•"/>
            </a:pPr>
            <a:endParaRPr lang="en-US" sz="3600" dirty="0">
              <a:effectLst>
                <a:outerShdw blurRad="38100" dist="38100" dir="2700000" algn="tl">
                  <a:srgbClr val="000000">
                    <a:alpha val="43137"/>
                  </a:srgbClr>
                </a:outerShdw>
              </a:effectLst>
            </a:endParaRPr>
          </a:p>
        </p:txBody>
      </p:sp>
      <p:sp>
        <p:nvSpPr>
          <p:cNvPr id="7" name="Text 5"/>
          <p:cNvSpPr/>
          <p:nvPr/>
        </p:nvSpPr>
        <p:spPr>
          <a:xfrm>
            <a:off x="597595" y="4440792"/>
            <a:ext cx="12692896" cy="395049"/>
          </a:xfrm>
          <a:prstGeom prst="rect">
            <a:avLst/>
          </a:prstGeom>
          <a:noFill/>
          <a:ln/>
        </p:spPr>
        <p:txBody>
          <a:bodyPr wrap="none" lIns="0" tIns="0" rIns="0" bIns="0" rtlCol="0" anchor="t"/>
          <a:lstStyle/>
          <a:p>
            <a:pPr marL="685800" lvl="1" indent="-342900" algn="l">
              <a:lnSpc>
                <a:spcPts val="3100"/>
              </a:lnSpc>
              <a:buSzPct val="100000"/>
              <a:buChar char="•"/>
            </a:pPr>
            <a:endParaRPr lang="en-US" sz="1900" dirty="0"/>
          </a:p>
        </p:txBody>
      </p:sp>
      <p:sp>
        <p:nvSpPr>
          <p:cNvPr id="8" name="Text 6"/>
          <p:cNvSpPr/>
          <p:nvPr/>
        </p:nvSpPr>
        <p:spPr>
          <a:xfrm>
            <a:off x="597595" y="4972717"/>
            <a:ext cx="12692896" cy="395049"/>
          </a:xfrm>
          <a:prstGeom prst="rect">
            <a:avLst/>
          </a:prstGeom>
          <a:noFill/>
          <a:ln/>
        </p:spPr>
        <p:txBody>
          <a:bodyPr wrap="none" lIns="0" tIns="0" rIns="0" bIns="0" rtlCol="0" anchor="t"/>
          <a:lstStyle/>
          <a:p>
            <a:pPr marL="685800" lvl="1" indent="-342900" algn="l">
              <a:lnSpc>
                <a:spcPts val="3100"/>
              </a:lnSpc>
              <a:buSzPct val="100000"/>
              <a:buChar char="•"/>
            </a:pPr>
            <a:endParaRPr lang="en-US" sz="1900" dirty="0"/>
          </a:p>
        </p:txBody>
      </p:sp>
      <p:sp>
        <p:nvSpPr>
          <p:cNvPr id="9" name="Text 7"/>
          <p:cNvSpPr/>
          <p:nvPr/>
        </p:nvSpPr>
        <p:spPr>
          <a:xfrm>
            <a:off x="752793" y="5596779"/>
            <a:ext cx="12692896" cy="395049"/>
          </a:xfrm>
          <a:prstGeom prst="rect">
            <a:avLst/>
          </a:prstGeom>
          <a:noFill/>
          <a:ln/>
        </p:spPr>
        <p:txBody>
          <a:bodyPr wrap="none" lIns="0" tIns="0" rIns="0" bIns="0" rtlCol="0" anchor="t"/>
          <a:lstStyle/>
          <a:p>
            <a:pPr marL="342900" indent="-342900" algn="l">
              <a:lnSpc>
                <a:spcPts val="3100"/>
              </a:lnSpc>
              <a:buSzPct val="100000"/>
              <a:buChar char="•"/>
            </a:pPr>
            <a:endParaRPr lang="en-US" sz="3600" dirty="0">
              <a:effectLst>
                <a:outerShdw blurRad="38100" dist="38100" dir="2700000" algn="tl">
                  <a:srgbClr val="000000">
                    <a:alpha val="43137"/>
                  </a:srgbClr>
                </a:outerShdw>
              </a:effectLst>
            </a:endParaRPr>
          </a:p>
        </p:txBody>
      </p:sp>
      <p:sp>
        <p:nvSpPr>
          <p:cNvPr id="10" name="Text 8"/>
          <p:cNvSpPr/>
          <p:nvPr/>
        </p:nvSpPr>
        <p:spPr>
          <a:xfrm>
            <a:off x="968693" y="6307987"/>
            <a:ext cx="12692896" cy="395049"/>
          </a:xfrm>
          <a:prstGeom prst="rect">
            <a:avLst/>
          </a:prstGeom>
          <a:noFill/>
          <a:ln/>
        </p:spPr>
        <p:txBody>
          <a:bodyPr wrap="none" lIns="0" tIns="0" rIns="0" bIns="0" rtlCol="0" anchor="t"/>
          <a:lstStyle/>
          <a:p>
            <a:pPr marL="685800" lvl="1" indent="-342900" algn="l">
              <a:lnSpc>
                <a:spcPts val="3100"/>
              </a:lnSpc>
              <a:buSzPct val="100000"/>
              <a:buChar char="•"/>
            </a:pPr>
            <a:endParaRPr lang="en-US" sz="2800" dirty="0"/>
          </a:p>
        </p:txBody>
      </p:sp>
      <p:sp>
        <p:nvSpPr>
          <p:cNvPr id="11" name="Text 9"/>
          <p:cNvSpPr/>
          <p:nvPr/>
        </p:nvSpPr>
        <p:spPr>
          <a:xfrm>
            <a:off x="968693" y="6861333"/>
            <a:ext cx="12692896" cy="395049"/>
          </a:xfrm>
          <a:prstGeom prst="rect">
            <a:avLst/>
          </a:prstGeom>
          <a:noFill/>
          <a:ln/>
        </p:spPr>
        <p:txBody>
          <a:bodyPr wrap="none" lIns="0" tIns="0" rIns="0" bIns="0" rtlCol="0" anchor="t"/>
          <a:lstStyle/>
          <a:p>
            <a:pPr marL="685800" lvl="1" indent="-342900" algn="l">
              <a:lnSpc>
                <a:spcPts val="3100"/>
              </a:lnSpc>
              <a:buSzPct val="100000"/>
              <a:buChar char="•"/>
            </a:pPr>
            <a:endParaRPr lang="en-US" sz="2800" dirty="0"/>
          </a:p>
        </p:txBody>
      </p:sp>
      <p:sp>
        <p:nvSpPr>
          <p:cNvPr id="15" name="TextBox 14">
            <a:extLst>
              <a:ext uri="{FF2B5EF4-FFF2-40B4-BE49-F238E27FC236}">
                <a16:creationId xmlns:a16="http://schemas.microsoft.com/office/drawing/2014/main" id="{8A319DFD-BFF7-8740-D11E-6A5F36929FB7}"/>
              </a:ext>
            </a:extLst>
          </p:cNvPr>
          <p:cNvSpPr txBox="1"/>
          <p:nvPr/>
        </p:nvSpPr>
        <p:spPr>
          <a:xfrm>
            <a:off x="3010829" y="338656"/>
            <a:ext cx="11363093" cy="584775"/>
          </a:xfrm>
          <a:prstGeom prst="rect">
            <a:avLst/>
          </a:prstGeom>
          <a:noFill/>
        </p:spPr>
        <p:txBody>
          <a:bodyPr wrap="square" rtlCol="0">
            <a:spAutoFit/>
          </a:bodyPr>
          <a:lstStyle/>
          <a:p>
            <a:r>
              <a:rPr lang="en-IN" sz="3200" b="1" dirty="0"/>
              <a:t>HARDWARE AND SOFTWARE REQUIREMENTS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3" name="arrow.wav"/>
          </p:stSnd>
        </p:sndAc>
      </p:transition>
    </mc:Choice>
    <mc:Fallback xmlns="">
      <p:transition spd="slow">
        <p:fade/>
        <p:sndAc>
          <p:stSnd>
            <p:snd r:embed="rId4" name="arrow.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E62E59-B25D-A749-7F7B-8163EC7F13B2}"/>
              </a:ext>
            </a:extLst>
          </p:cNvPr>
          <p:cNvSpPr/>
          <p:nvPr/>
        </p:nvSpPr>
        <p:spPr>
          <a:xfrm>
            <a:off x="2370221" y="294536"/>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2800" b="1" dirty="0"/>
              <a:t>LITERATURE SURVEY</a:t>
            </a:r>
          </a:p>
        </p:txBody>
      </p:sp>
      <p:sp>
        <p:nvSpPr>
          <p:cNvPr id="6" name="TextBox 5">
            <a:extLst>
              <a:ext uri="{FF2B5EF4-FFF2-40B4-BE49-F238E27FC236}">
                <a16:creationId xmlns:a16="http://schemas.microsoft.com/office/drawing/2014/main" id="{321300F8-72C9-4777-2176-C015ACCFD146}"/>
              </a:ext>
            </a:extLst>
          </p:cNvPr>
          <p:cNvSpPr txBox="1"/>
          <p:nvPr/>
        </p:nvSpPr>
        <p:spPr>
          <a:xfrm>
            <a:off x="938108" y="1208489"/>
            <a:ext cx="12465425" cy="6986528"/>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Previous research in railway track safety mainly focused on improving inspection methods to detect cracks and defective track conditions at an early stage. Initial studies relied heavily on manual inspection, where railway staff visually examined tracks. Literature clearly reports that this approach is slow, labor-intensive, and unreliable for detecting small or early-stage cracks.</a:t>
            </a:r>
          </a:p>
          <a:p>
            <a:endParaRPr lang="en-US" sz="3200" dirty="0">
              <a:latin typeface="Source Sans Pro" panose="020B0503030403020204" pitchFamily="34" charset="0"/>
              <a:ea typeface="Source Sans Pro" panose="020B0503030403020204" pitchFamily="34" charset="0"/>
            </a:endParaRPr>
          </a:p>
          <a:p>
            <a:pPr marL="457200" indent="-457200">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Later studies explored camera-based inspection systems, where images of railway tracks were analyzed instead of physical checking. These studies showed that visual data can capture surface irregularities better than human observation. However, many researchers reported that simple image processing techniques fail under real outdoor conditions due to changes in lighting, shadows, rust, and surface wear.</a:t>
            </a:r>
          </a:p>
        </p:txBody>
      </p:sp>
    </p:spTree>
    <p:extLst>
      <p:ext uri="{BB962C8B-B14F-4D97-AF65-F5344CB8AC3E}">
        <p14:creationId xmlns:p14="http://schemas.microsoft.com/office/powerpoint/2010/main" val="10178751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3" name="arrow.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EE63-FE9F-82D4-FE33-03B81089E78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DA77F0-E62B-54ED-904F-E59E1B74AEE9}"/>
              </a:ext>
            </a:extLst>
          </p:cNvPr>
          <p:cNvSpPr/>
          <p:nvPr/>
        </p:nvSpPr>
        <p:spPr>
          <a:xfrm>
            <a:off x="2370221" y="294536"/>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2800" b="1" dirty="0"/>
              <a:t>LITERATURE SURVEY</a:t>
            </a:r>
          </a:p>
        </p:txBody>
      </p:sp>
      <p:sp>
        <p:nvSpPr>
          <p:cNvPr id="6" name="TextBox 5">
            <a:extLst>
              <a:ext uri="{FF2B5EF4-FFF2-40B4-BE49-F238E27FC236}">
                <a16:creationId xmlns:a16="http://schemas.microsoft.com/office/drawing/2014/main" id="{8689BD70-4984-C768-5948-2DA76DFCE5B6}"/>
              </a:ext>
            </a:extLst>
          </p:cNvPr>
          <p:cNvSpPr txBox="1"/>
          <p:nvPr/>
        </p:nvSpPr>
        <p:spPr>
          <a:xfrm>
            <a:off x="1102657" y="1243072"/>
            <a:ext cx="12465425" cy="6001643"/>
          </a:xfrm>
          <a:prstGeom prst="rect">
            <a:avLst/>
          </a:prstGeom>
          <a:noFill/>
        </p:spPr>
        <p:txBody>
          <a:bodyPr wrap="square">
            <a:spAutoFit/>
          </a:bodyPr>
          <a:lstStyle/>
          <a:p>
            <a:pPr marL="457200" indent="-457200">
              <a:buFont typeface="Arial" panose="020B0604020202020204" pitchFamily="34" charset="0"/>
              <a:buChar char="•"/>
            </a:pPr>
            <a:r>
              <a:rPr lang="en-US" sz="3200" dirty="0"/>
              <a:t>As research progressed, learning-based approaches were introduced to improve crack detection accuracy. These methods allowed systems to learn patterns from sample images rather than relying on fixed rules. Literature highlights that such approaches perform better in handling variations in crack shape and track appearance.</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Recent studies emphasize automated and intelligent systems for railway inspection. However, many existing solutions are reported to be complex, computationally heavy, or tested only in controlled environments. Literature concludes that there is a strong need for practical, accurate, and adaptable crack detection systems suitable for real-world railway infrastructure.</a:t>
            </a:r>
          </a:p>
        </p:txBody>
      </p:sp>
    </p:spTree>
    <p:extLst>
      <p:ext uri="{BB962C8B-B14F-4D97-AF65-F5344CB8AC3E}">
        <p14:creationId xmlns:p14="http://schemas.microsoft.com/office/powerpoint/2010/main" val="34985359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3" name="arrow.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905A3-C1CF-6F0F-C181-285A91EE7A0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E26B6AE-1B84-ABA8-3C93-781E8D5DF53E}"/>
              </a:ext>
            </a:extLst>
          </p:cNvPr>
          <p:cNvSpPr/>
          <p:nvPr/>
        </p:nvSpPr>
        <p:spPr>
          <a:xfrm>
            <a:off x="2370221" y="294536"/>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2800" b="1" dirty="0"/>
              <a:t>UML DIAGRAMS</a:t>
            </a:r>
          </a:p>
        </p:txBody>
      </p:sp>
      <p:pic>
        <p:nvPicPr>
          <p:cNvPr id="2" name="Picture 1">
            <a:extLst>
              <a:ext uri="{FF2B5EF4-FFF2-40B4-BE49-F238E27FC236}">
                <a16:creationId xmlns:a16="http://schemas.microsoft.com/office/drawing/2014/main" id="{9B72F17C-E4E6-56D9-A005-5A38AC53785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11988" y="2097742"/>
            <a:ext cx="6074532" cy="5365376"/>
          </a:xfrm>
          <a:prstGeom prst="rect">
            <a:avLst/>
          </a:prstGeom>
          <a:noFill/>
          <a:ln>
            <a:noFill/>
          </a:ln>
        </p:spPr>
      </p:pic>
      <p:sp>
        <p:nvSpPr>
          <p:cNvPr id="7" name="Rectangle 6">
            <a:extLst>
              <a:ext uri="{FF2B5EF4-FFF2-40B4-BE49-F238E27FC236}">
                <a16:creationId xmlns:a16="http://schemas.microsoft.com/office/drawing/2014/main" id="{4F8D1FB2-19EB-45A0-FA17-8D31E445FA6D}"/>
              </a:ext>
            </a:extLst>
          </p:cNvPr>
          <p:cNvSpPr/>
          <p:nvPr/>
        </p:nvSpPr>
        <p:spPr>
          <a:xfrm>
            <a:off x="0" y="1633996"/>
            <a:ext cx="7449671"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800" b="1" dirty="0"/>
              <a:t>C</a:t>
            </a:r>
            <a:r>
              <a:rPr lang="en-IN" sz="2800" b="1" dirty="0"/>
              <a:t>LASS DIAGRAM</a:t>
            </a:r>
          </a:p>
        </p:txBody>
      </p:sp>
      <p:sp>
        <p:nvSpPr>
          <p:cNvPr id="9" name="Rectangle 2">
            <a:extLst>
              <a:ext uri="{FF2B5EF4-FFF2-40B4-BE49-F238E27FC236}">
                <a16:creationId xmlns:a16="http://schemas.microsoft.com/office/drawing/2014/main" id="{EFE8ECBC-25F4-C5FE-60E4-72CF15B1C744}"/>
              </a:ext>
            </a:extLst>
          </p:cNvPr>
          <p:cNvSpPr>
            <a:spLocks noChangeArrowheads="1"/>
          </p:cNvSpPr>
          <p:nvPr/>
        </p:nvSpPr>
        <p:spPr bwMode="auto">
          <a:xfrm>
            <a:off x="164903" y="2449561"/>
            <a:ext cx="806469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class diagram represents the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static structure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of the railway track defect detection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It shows the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main classes</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such as User, Flask Application, Image Uploader, Preprocessor, AI Model, and Result Processor.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Each class defines its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attributes and methods</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for example login, image upload, prediction, and alert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Flask application acts as a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central controller</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that connects all modules.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This diagram helps in understanding the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internal organization and responsibilities</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of the system.</a:t>
            </a:r>
          </a:p>
        </p:txBody>
      </p:sp>
    </p:spTree>
    <p:extLst>
      <p:ext uri="{BB962C8B-B14F-4D97-AF65-F5344CB8AC3E}">
        <p14:creationId xmlns:p14="http://schemas.microsoft.com/office/powerpoint/2010/main" val="27734809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4" name="arrow.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D77D5-1B27-BEEE-2456-11E663117EC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9989C76-B937-7E4C-D97E-66D1261BF37F}"/>
              </a:ext>
            </a:extLst>
          </p:cNvPr>
          <p:cNvSpPr/>
          <p:nvPr/>
        </p:nvSpPr>
        <p:spPr>
          <a:xfrm>
            <a:off x="0" y="1168595"/>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2800" b="1" dirty="0"/>
              <a:t>USECASE DIAGRAM</a:t>
            </a:r>
          </a:p>
        </p:txBody>
      </p:sp>
      <p:pic>
        <p:nvPicPr>
          <p:cNvPr id="3" name="Picture 2">
            <a:extLst>
              <a:ext uri="{FF2B5EF4-FFF2-40B4-BE49-F238E27FC236}">
                <a16:creationId xmlns:a16="http://schemas.microsoft.com/office/drawing/2014/main" id="{27F4B2C8-4D8E-E513-7000-7BBD704E475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3765" y="1930549"/>
            <a:ext cx="6096635" cy="5130456"/>
          </a:xfrm>
          <a:prstGeom prst="rect">
            <a:avLst/>
          </a:prstGeom>
          <a:noFill/>
          <a:ln>
            <a:noFill/>
          </a:ln>
        </p:spPr>
      </p:pic>
      <p:sp>
        <p:nvSpPr>
          <p:cNvPr id="8" name="TextBox 7">
            <a:extLst>
              <a:ext uri="{FF2B5EF4-FFF2-40B4-BE49-F238E27FC236}">
                <a16:creationId xmlns:a16="http://schemas.microsoft.com/office/drawing/2014/main" id="{61738A49-7EDB-E21B-A5AD-8CE24A50E005}"/>
              </a:ext>
            </a:extLst>
          </p:cNvPr>
          <p:cNvSpPr txBox="1"/>
          <p:nvPr/>
        </p:nvSpPr>
        <p:spPr>
          <a:xfrm>
            <a:off x="161364" y="2163233"/>
            <a:ext cx="8041342" cy="5693866"/>
          </a:xfrm>
          <a:prstGeom prst="rect">
            <a:avLst/>
          </a:prstGeom>
          <a:noFill/>
        </p:spPr>
        <p:txBody>
          <a:bodyPr wrap="square">
            <a:spAutoFit/>
          </a:bodyPr>
          <a:lstStyle/>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The use case diagram describes the </a:t>
            </a:r>
            <a:r>
              <a:rPr lang="en-US" sz="2800" b="1" dirty="0">
                <a:latin typeface="Source Sans Pro" panose="020B0503030403020204" pitchFamily="34" charset="0"/>
                <a:ea typeface="Source Sans Pro" panose="020B0503030403020204" pitchFamily="34" charset="0"/>
              </a:rPr>
              <a:t>functional requirements</a:t>
            </a:r>
            <a:r>
              <a:rPr lang="en-US" sz="2800" dirty="0">
                <a:latin typeface="Source Sans Pro" panose="020B0503030403020204" pitchFamily="34" charset="0"/>
                <a:ea typeface="Source Sans Pro" panose="020B0503030403020204" pitchFamily="34" charset="0"/>
              </a:rPr>
              <a:t> of the system.</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The </a:t>
            </a:r>
            <a:r>
              <a:rPr lang="en-US" sz="2800" b="1" dirty="0">
                <a:latin typeface="Source Sans Pro" panose="020B0503030403020204" pitchFamily="34" charset="0"/>
                <a:ea typeface="Source Sans Pro" panose="020B0503030403020204" pitchFamily="34" charset="0"/>
              </a:rPr>
              <a:t>User</a:t>
            </a:r>
            <a:r>
              <a:rPr lang="en-US" sz="2800" dirty="0">
                <a:latin typeface="Source Sans Pro" panose="020B0503030403020204" pitchFamily="34" charset="0"/>
                <a:ea typeface="Source Sans Pro" panose="020B0503030403020204" pitchFamily="34" charset="0"/>
              </a:rPr>
              <a:t> is the primary actor who interacts with the application.</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The user must first </a:t>
            </a:r>
            <a:r>
              <a:rPr lang="en-US" sz="2800" b="1" dirty="0">
                <a:latin typeface="Source Sans Pro" panose="020B0503030403020204" pitchFamily="34" charset="0"/>
                <a:ea typeface="Source Sans Pro" panose="020B0503030403020204" pitchFamily="34" charset="0"/>
              </a:rPr>
              <a:t>log in</a:t>
            </a:r>
            <a:r>
              <a:rPr lang="en-US" sz="2800" dirty="0">
                <a:latin typeface="Source Sans Pro" panose="020B0503030403020204" pitchFamily="34" charset="0"/>
                <a:ea typeface="Source Sans Pro" panose="020B0503030403020204" pitchFamily="34" charset="0"/>
              </a:rPr>
              <a:t> to access the system features.</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After login, the user uploads a railway track image for analysis.</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The system performs </a:t>
            </a:r>
            <a:r>
              <a:rPr lang="en-US" sz="2800" b="1" dirty="0">
                <a:latin typeface="Source Sans Pro" panose="020B0503030403020204" pitchFamily="34" charset="0"/>
                <a:ea typeface="Source Sans Pro" panose="020B0503030403020204" pitchFamily="34" charset="0"/>
              </a:rPr>
              <a:t>AI-based detection</a:t>
            </a:r>
            <a:r>
              <a:rPr lang="en-US" sz="2800" dirty="0">
                <a:latin typeface="Source Sans Pro" panose="020B0503030403020204" pitchFamily="34" charset="0"/>
                <a:ea typeface="Source Sans Pro" panose="020B0503030403020204" pitchFamily="34" charset="0"/>
              </a:rPr>
              <a:t> to classify the track as defective or safe.</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If a defect is detected, the system </a:t>
            </a:r>
            <a:r>
              <a:rPr lang="en-US" sz="2800" b="1" dirty="0">
                <a:latin typeface="Source Sans Pro" panose="020B0503030403020204" pitchFamily="34" charset="0"/>
                <a:ea typeface="Source Sans Pro" panose="020B0503030403020204" pitchFamily="34" charset="0"/>
              </a:rPr>
              <a:t>draws a bounding box and generates an alert</a:t>
            </a:r>
            <a:r>
              <a:rPr lang="en-US" sz="2800" dirty="0">
                <a:latin typeface="Source Sans Pro" panose="020B0503030403020204" pitchFamily="34" charset="0"/>
                <a:ea typeface="Source Sans Pro" panose="020B0503030403020204" pitchFamily="34" charset="0"/>
              </a:rPr>
              <a:t>.</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Finally, the user can </a:t>
            </a:r>
            <a:r>
              <a:rPr lang="en-US" sz="2800" b="1" dirty="0">
                <a:latin typeface="Source Sans Pro" panose="020B0503030403020204" pitchFamily="34" charset="0"/>
                <a:ea typeface="Source Sans Pro" panose="020B0503030403020204" pitchFamily="34" charset="0"/>
              </a:rPr>
              <a:t>view the detection result</a:t>
            </a:r>
            <a:r>
              <a:rPr lang="en-US" sz="2800" dirty="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2697200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4" name="arrow.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45A3F-4C2F-015B-15B7-144582E72FE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B8EE9E-A5D1-9A1C-932E-71462B59F345}"/>
              </a:ext>
            </a:extLst>
          </p:cNvPr>
          <p:cNvSpPr/>
          <p:nvPr/>
        </p:nvSpPr>
        <p:spPr>
          <a:xfrm>
            <a:off x="0" y="892034"/>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2800" b="1" dirty="0"/>
              <a:t>SEQUENCE DIAGRAM</a:t>
            </a:r>
          </a:p>
        </p:txBody>
      </p:sp>
      <p:pic>
        <p:nvPicPr>
          <p:cNvPr id="2" name="Picture 1">
            <a:extLst>
              <a:ext uri="{FF2B5EF4-FFF2-40B4-BE49-F238E27FC236}">
                <a16:creationId xmlns:a16="http://schemas.microsoft.com/office/drawing/2014/main" id="{2833C3BB-29C4-E977-2BE8-D89762B2C4D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5776" y="2138081"/>
            <a:ext cx="6064624" cy="5499847"/>
          </a:xfrm>
          <a:prstGeom prst="rect">
            <a:avLst/>
          </a:prstGeom>
          <a:noFill/>
          <a:ln>
            <a:noFill/>
          </a:ln>
        </p:spPr>
      </p:pic>
      <p:sp>
        <p:nvSpPr>
          <p:cNvPr id="7" name="Rectangle 1">
            <a:extLst>
              <a:ext uri="{FF2B5EF4-FFF2-40B4-BE49-F238E27FC236}">
                <a16:creationId xmlns:a16="http://schemas.microsoft.com/office/drawing/2014/main" id="{93C42D6B-3D3B-16F8-1FD0-9EFC9D1991F7}"/>
              </a:ext>
            </a:extLst>
          </p:cNvPr>
          <p:cNvSpPr>
            <a:spLocks noChangeArrowheads="1"/>
          </p:cNvSpPr>
          <p:nvPr/>
        </p:nvSpPr>
        <p:spPr bwMode="auto">
          <a:xfrm>
            <a:off x="174812" y="2303477"/>
            <a:ext cx="8390964"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sequence diagram explains the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order of execution</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of processes in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user enters credentials which are sent to the Flask server for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After successful login, the user uploads a track image.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Flask server preprocesses the image and forwards it to the AI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AI model performs prediction and sends the result back to the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server displays the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final output and alert message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to the user.</a:t>
            </a:r>
          </a:p>
        </p:txBody>
      </p:sp>
    </p:spTree>
    <p:extLst>
      <p:ext uri="{BB962C8B-B14F-4D97-AF65-F5344CB8AC3E}">
        <p14:creationId xmlns:p14="http://schemas.microsoft.com/office/powerpoint/2010/main" val="33137284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4" name="arrow.wav"/>
          </p:stSnd>
        </p:sndAc>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FF747-181B-9FB7-CB5F-AE58C601BD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4A3344-7172-350C-A4D7-198760F6A632}"/>
              </a:ext>
            </a:extLst>
          </p:cNvPr>
          <p:cNvSpPr/>
          <p:nvPr/>
        </p:nvSpPr>
        <p:spPr>
          <a:xfrm>
            <a:off x="0" y="1056489"/>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2800" b="1" dirty="0"/>
              <a:t>COLLABORATION DIAGRAM</a:t>
            </a:r>
          </a:p>
        </p:txBody>
      </p:sp>
      <p:pic>
        <p:nvPicPr>
          <p:cNvPr id="3" name="Picture 2">
            <a:extLst>
              <a:ext uri="{FF2B5EF4-FFF2-40B4-BE49-F238E27FC236}">
                <a16:creationId xmlns:a16="http://schemas.microsoft.com/office/drawing/2014/main" id="{C4C222D3-BC2F-8526-9A8C-A2436EAFFE6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6760" y="1818441"/>
            <a:ext cx="5518150" cy="6101877"/>
          </a:xfrm>
          <a:prstGeom prst="rect">
            <a:avLst/>
          </a:prstGeom>
          <a:noFill/>
          <a:ln>
            <a:noFill/>
          </a:ln>
        </p:spPr>
      </p:pic>
      <p:sp>
        <p:nvSpPr>
          <p:cNvPr id="5" name="Rectangle 1">
            <a:extLst>
              <a:ext uri="{FF2B5EF4-FFF2-40B4-BE49-F238E27FC236}">
                <a16:creationId xmlns:a16="http://schemas.microsoft.com/office/drawing/2014/main" id="{10ED7ABC-1701-98CF-3AE5-41737561DD97}"/>
              </a:ext>
            </a:extLst>
          </p:cNvPr>
          <p:cNvSpPr>
            <a:spLocks noChangeArrowheads="1"/>
          </p:cNvSpPr>
          <p:nvPr/>
        </p:nvSpPr>
        <p:spPr bwMode="auto">
          <a:xfrm>
            <a:off x="210297" y="1943727"/>
            <a:ext cx="896676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collaboration diagram shows how </a:t>
            </a:r>
            <a:r>
              <a:rPr kumimoji="0" lang="en-US" altLang="en-US" sz="32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objects interact and communicate</a:t>
            </a: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with each 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User communicates with the Login Page to provide credentials.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Flask server coordinates between image processing and AI prediction modules.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AI model sends prediction results to the result processing module.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result page displays the output along with alert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This diagram emphasizes the </a:t>
            </a:r>
            <a:r>
              <a:rPr kumimoji="0" lang="en-US" altLang="en-US" sz="32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relationships and message flow</a:t>
            </a: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between objects.</a:t>
            </a:r>
          </a:p>
        </p:txBody>
      </p:sp>
    </p:spTree>
    <p:extLst>
      <p:ext uri="{BB962C8B-B14F-4D97-AF65-F5344CB8AC3E}">
        <p14:creationId xmlns:p14="http://schemas.microsoft.com/office/powerpoint/2010/main" val="34259542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4" name="arrow.wav"/>
          </p:stSnd>
        </p:sndAc>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20A6D-6520-1F2A-BBC6-F1FBDAED04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547C23-11C5-5B84-4C51-4CF79B0755E1}"/>
              </a:ext>
            </a:extLst>
          </p:cNvPr>
          <p:cNvSpPr/>
          <p:nvPr/>
        </p:nvSpPr>
        <p:spPr>
          <a:xfrm>
            <a:off x="0" y="766512"/>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2800" b="1" dirty="0"/>
              <a:t>ACTIVITY DIAGRAM</a:t>
            </a:r>
          </a:p>
        </p:txBody>
      </p:sp>
      <p:pic>
        <p:nvPicPr>
          <p:cNvPr id="2" name="Picture 1">
            <a:extLst>
              <a:ext uri="{FF2B5EF4-FFF2-40B4-BE49-F238E27FC236}">
                <a16:creationId xmlns:a16="http://schemas.microsoft.com/office/drawing/2014/main" id="{35029E0D-9415-6C42-858B-C644EF7BA8C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43551" y="1777614"/>
            <a:ext cx="5988050" cy="5792592"/>
          </a:xfrm>
          <a:prstGeom prst="rect">
            <a:avLst/>
          </a:prstGeom>
          <a:noFill/>
          <a:ln>
            <a:noFill/>
          </a:ln>
        </p:spPr>
      </p:pic>
      <p:sp>
        <p:nvSpPr>
          <p:cNvPr id="5" name="Rectangle 1">
            <a:extLst>
              <a:ext uri="{FF2B5EF4-FFF2-40B4-BE49-F238E27FC236}">
                <a16:creationId xmlns:a16="http://schemas.microsoft.com/office/drawing/2014/main" id="{B63FAD84-FF65-3DC8-5615-DA2F46FABDF3}"/>
              </a:ext>
            </a:extLst>
          </p:cNvPr>
          <p:cNvSpPr>
            <a:spLocks noChangeArrowheads="1"/>
          </p:cNvSpPr>
          <p:nvPr/>
        </p:nvSpPr>
        <p:spPr bwMode="auto">
          <a:xfrm>
            <a:off x="249111" y="1777614"/>
            <a:ext cx="8444752"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activity diagram represents the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workflow of the system</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from start to 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process begins with the user opening the login page and entering credentials.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If the credentials are invalid, an error message is displayed.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After successful login, the user uploads a railway track image.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image is preprocessed and sent to the AI model for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If the track is defective, a bounding box is drawn and an alert is generated.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If the track is safe, the system displays a safe message.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process ends after showing the result.</a:t>
            </a:r>
          </a:p>
        </p:txBody>
      </p:sp>
    </p:spTree>
    <p:extLst>
      <p:ext uri="{BB962C8B-B14F-4D97-AF65-F5344CB8AC3E}">
        <p14:creationId xmlns:p14="http://schemas.microsoft.com/office/powerpoint/2010/main" val="9856726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4" name="arrow.wav"/>
          </p:stSnd>
        </p:sndAc>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9F5C-E7F3-4394-E6BC-D1D544E3277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7C61B29-33DE-C8DA-2E24-A7599D59E37D}"/>
              </a:ext>
            </a:extLst>
          </p:cNvPr>
          <p:cNvSpPr/>
          <p:nvPr/>
        </p:nvSpPr>
        <p:spPr>
          <a:xfrm>
            <a:off x="0" y="886206"/>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2800" b="1" dirty="0"/>
              <a:t>DEPLOYEMENT DIAGRAM</a:t>
            </a:r>
          </a:p>
        </p:txBody>
      </p:sp>
      <p:pic>
        <p:nvPicPr>
          <p:cNvPr id="3" name="Picture 2">
            <a:extLst>
              <a:ext uri="{FF2B5EF4-FFF2-40B4-BE49-F238E27FC236}">
                <a16:creationId xmlns:a16="http://schemas.microsoft.com/office/drawing/2014/main" id="{648B3D99-5501-59AD-3546-45F87AB0367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30346" y="1783440"/>
            <a:ext cx="6197600" cy="6297258"/>
          </a:xfrm>
          <a:prstGeom prst="rect">
            <a:avLst/>
          </a:prstGeom>
          <a:noFill/>
          <a:ln>
            <a:noFill/>
          </a:ln>
        </p:spPr>
      </p:pic>
      <p:sp>
        <p:nvSpPr>
          <p:cNvPr id="7" name="TextBox 6">
            <a:extLst>
              <a:ext uri="{FF2B5EF4-FFF2-40B4-BE49-F238E27FC236}">
                <a16:creationId xmlns:a16="http://schemas.microsoft.com/office/drawing/2014/main" id="{E5F84A3C-1D0A-D41E-F942-562675184CE0}"/>
              </a:ext>
            </a:extLst>
          </p:cNvPr>
          <p:cNvSpPr txBox="1"/>
          <p:nvPr/>
        </p:nvSpPr>
        <p:spPr>
          <a:xfrm>
            <a:off x="202453" y="1943773"/>
            <a:ext cx="8027893" cy="6001643"/>
          </a:xfrm>
          <a:prstGeom prst="rect">
            <a:avLst/>
          </a:prstGeom>
          <a:noFill/>
        </p:spPr>
        <p:txBody>
          <a:bodyPr wrap="square">
            <a:spAutoFit/>
          </a:bodyPr>
          <a:lstStyle/>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The deployment diagram shows the </a:t>
            </a:r>
            <a:r>
              <a:rPr lang="en-US" sz="3200" b="1" dirty="0">
                <a:latin typeface="Source Sans Pro" panose="020B0503030403020204" pitchFamily="34" charset="0"/>
                <a:ea typeface="Source Sans Pro" panose="020B0503030403020204" pitchFamily="34" charset="0"/>
              </a:rPr>
              <a:t>physical architecture</a:t>
            </a:r>
            <a:r>
              <a:rPr lang="en-US" sz="3200" dirty="0">
                <a:latin typeface="Source Sans Pro" panose="020B0503030403020204" pitchFamily="34" charset="0"/>
                <a:ea typeface="Source Sans Pro" panose="020B0503030403020204" pitchFamily="34" charset="0"/>
              </a:rPr>
              <a:t> of the system.</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The user accesses the application through a </a:t>
            </a:r>
            <a:r>
              <a:rPr lang="en-US" sz="3200" b="1" dirty="0">
                <a:latin typeface="Source Sans Pro" panose="020B0503030403020204" pitchFamily="34" charset="0"/>
                <a:ea typeface="Source Sans Pro" panose="020B0503030403020204" pitchFamily="34" charset="0"/>
              </a:rPr>
              <a:t>web browser</a:t>
            </a:r>
            <a:r>
              <a:rPr lang="en-US" sz="3200" dirty="0">
                <a:latin typeface="Source Sans Pro" panose="020B0503030403020204" pitchFamily="34" charset="0"/>
                <a:ea typeface="Source Sans Pro" panose="020B0503030403020204" pitchFamily="34" charset="0"/>
              </a:rPr>
              <a:t>.</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The Flask server hosts the web application and manages requests.</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The trained AI model is deployed within the server environment.</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Uploaded images and result images are stored in the storage system.</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This diagram explains how software components are </a:t>
            </a:r>
            <a:r>
              <a:rPr lang="en-US" sz="3200" b="1" dirty="0">
                <a:latin typeface="Source Sans Pro" panose="020B0503030403020204" pitchFamily="34" charset="0"/>
                <a:ea typeface="Source Sans Pro" panose="020B0503030403020204" pitchFamily="34" charset="0"/>
              </a:rPr>
              <a:t>deployed and connected</a:t>
            </a:r>
            <a:r>
              <a:rPr lang="en-US" sz="3200" dirty="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2449464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4" name="arrow.wav"/>
          </p:stSnd>
        </p:sndAc>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D4BC007-FE28-8DB5-1B51-9A57CAB1C5FE}"/>
              </a:ext>
            </a:extLst>
          </p:cNvPr>
          <p:cNvSpPr/>
          <p:nvPr/>
        </p:nvSpPr>
        <p:spPr>
          <a:xfrm>
            <a:off x="2370221" y="294536"/>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extBox 4">
            <a:extLst>
              <a:ext uri="{FF2B5EF4-FFF2-40B4-BE49-F238E27FC236}">
                <a16:creationId xmlns:a16="http://schemas.microsoft.com/office/drawing/2014/main" id="{18ACE97D-A8DC-7F10-FB29-175211274463}"/>
              </a:ext>
            </a:extLst>
          </p:cNvPr>
          <p:cNvSpPr txBox="1"/>
          <p:nvPr/>
        </p:nvSpPr>
        <p:spPr>
          <a:xfrm>
            <a:off x="5394158" y="357887"/>
            <a:ext cx="10820400" cy="584775"/>
          </a:xfrm>
          <a:prstGeom prst="rect">
            <a:avLst/>
          </a:prstGeom>
          <a:noFill/>
        </p:spPr>
        <p:txBody>
          <a:bodyPr wrap="square" rtlCol="0">
            <a:spAutoFit/>
          </a:bodyPr>
          <a:lstStyle/>
          <a:p>
            <a:r>
              <a:rPr lang="en-US" sz="3200" b="1" dirty="0"/>
              <a:t>MODULES DESCRIPTION</a:t>
            </a:r>
          </a:p>
        </p:txBody>
      </p:sp>
      <p:sp>
        <p:nvSpPr>
          <p:cNvPr id="8" name="Rectangle 2">
            <a:extLst>
              <a:ext uri="{FF2B5EF4-FFF2-40B4-BE49-F238E27FC236}">
                <a16:creationId xmlns:a16="http://schemas.microsoft.com/office/drawing/2014/main" id="{21D16AB4-D3EB-8CB5-3349-1C313F27C9B8}"/>
              </a:ext>
            </a:extLst>
          </p:cNvPr>
          <p:cNvSpPr>
            <a:spLocks noChangeArrowheads="1"/>
          </p:cNvSpPr>
          <p:nvPr/>
        </p:nvSpPr>
        <p:spPr bwMode="auto">
          <a:xfrm>
            <a:off x="757237" y="4155218"/>
            <a:ext cx="128143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EC3D79CA-5710-0EAB-CF34-5520AD96E117}"/>
              </a:ext>
            </a:extLst>
          </p:cNvPr>
          <p:cNvSpPr>
            <a:spLocks noChangeArrowheads="1"/>
          </p:cNvSpPr>
          <p:nvPr/>
        </p:nvSpPr>
        <p:spPr bwMode="auto">
          <a:xfrm>
            <a:off x="1537735" y="2104847"/>
            <a:ext cx="1155493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Region Proposal Module (RPN):</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Identifies possible defect regions.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Image Acquisition Module: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Captures railway track images/video through a camera.</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Preprocessing Module: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Enhances and prepares images for detection.</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Feature Extraction Module: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Uses CNN to extract important track features.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Faster R-CNN Detection Module: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Detects cracks, falls, and obstacles with bounding boxes.</a:t>
            </a:r>
          </a:p>
          <a:p>
            <a:pPr marL="457200" lvl="0" indent="-457200" eaLnBrk="0" fontAlgn="base" hangingPunct="0">
              <a:spcBef>
                <a:spcPct val="0"/>
              </a:spcBef>
              <a:spcAft>
                <a:spcPct val="0"/>
              </a:spcAft>
              <a:buFont typeface="Courier New" panose="02070309020205020404" pitchFamily="49" charset="0"/>
              <a:buChar char="o"/>
            </a:pPr>
            <a:r>
              <a:rPr lang="en-US" sz="2800" b="1" dirty="0"/>
              <a:t>Bounding Box Detection Module:</a:t>
            </a:r>
            <a:r>
              <a:rPr lang="en-US" sz="2800" dirty="0"/>
              <a:t> Generates bounding boxes around cracks, falls, and obstacles.</a:t>
            </a:r>
            <a:endPar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Alert Module (Siren Alarm):</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Triggers alarm when a defect is found.</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Output Visualization Module: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Displays detected defects on the screen.</a:t>
            </a:r>
          </a:p>
        </p:txBody>
      </p:sp>
    </p:spTree>
    <p:extLst>
      <p:ext uri="{BB962C8B-B14F-4D97-AF65-F5344CB8AC3E}">
        <p14:creationId xmlns:p14="http://schemas.microsoft.com/office/powerpoint/2010/main" val="5107557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3" name="arrow.wav"/>
          </p:stSnd>
        </p:sndAc>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F8E7C3-4FDB-D87C-3076-0037DD1081D4}"/>
              </a:ext>
            </a:extLst>
          </p:cNvPr>
          <p:cNvSpPr/>
          <p:nvPr/>
        </p:nvSpPr>
        <p:spPr>
          <a:xfrm>
            <a:off x="3398921" y="126439"/>
            <a:ext cx="7405437"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 name="TextBox 2">
            <a:extLst>
              <a:ext uri="{FF2B5EF4-FFF2-40B4-BE49-F238E27FC236}">
                <a16:creationId xmlns:a16="http://schemas.microsoft.com/office/drawing/2014/main" id="{B2E8F6A6-A512-3541-F7CA-BBCBF93E48A3}"/>
              </a:ext>
            </a:extLst>
          </p:cNvPr>
          <p:cNvSpPr txBox="1"/>
          <p:nvPr/>
        </p:nvSpPr>
        <p:spPr>
          <a:xfrm>
            <a:off x="5444289" y="170129"/>
            <a:ext cx="9504948" cy="861774"/>
          </a:xfrm>
          <a:prstGeom prst="rect">
            <a:avLst/>
          </a:prstGeom>
          <a:noFill/>
        </p:spPr>
        <p:txBody>
          <a:bodyPr wrap="square" rtlCol="0">
            <a:spAutoFit/>
          </a:bodyPr>
          <a:lstStyle/>
          <a:p>
            <a:pPr marL="457200" indent="-457200"/>
            <a:r>
              <a:rPr lang="en-US" sz="3200" b="1" dirty="0"/>
              <a:t>IMPLEMENTATION </a:t>
            </a:r>
          </a:p>
          <a:p>
            <a:endParaRPr lang="en-US" dirty="0"/>
          </a:p>
        </p:txBody>
      </p:sp>
      <p:sp>
        <p:nvSpPr>
          <p:cNvPr id="4" name="Rectangle: Rounded Corners 3">
            <a:extLst>
              <a:ext uri="{FF2B5EF4-FFF2-40B4-BE49-F238E27FC236}">
                <a16:creationId xmlns:a16="http://schemas.microsoft.com/office/drawing/2014/main" id="{BAB30CDE-C2A5-01FC-E635-D5B5CDCDCEE0}"/>
              </a:ext>
            </a:extLst>
          </p:cNvPr>
          <p:cNvSpPr/>
          <p:nvPr/>
        </p:nvSpPr>
        <p:spPr>
          <a:xfrm>
            <a:off x="2105526" y="1130966"/>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8C86AED-E96D-9D9F-3068-E463353048C7}"/>
              </a:ext>
            </a:extLst>
          </p:cNvPr>
          <p:cNvSpPr txBox="1"/>
          <p:nvPr/>
        </p:nvSpPr>
        <p:spPr>
          <a:xfrm>
            <a:off x="2448427" y="1348017"/>
            <a:ext cx="2562727" cy="1200329"/>
          </a:xfrm>
          <a:prstGeom prst="rect">
            <a:avLst/>
          </a:prstGeom>
          <a:noFill/>
        </p:spPr>
        <p:txBody>
          <a:bodyPr wrap="square" rtlCol="0">
            <a:spAutoFit/>
          </a:bodyPr>
          <a:lstStyle/>
          <a:p>
            <a:r>
              <a:rPr lang="en-US" sz="2400" dirty="0"/>
              <a:t>Detect railway track condition using camera input</a:t>
            </a:r>
            <a:endParaRPr lang="en-US" dirty="0"/>
          </a:p>
        </p:txBody>
      </p:sp>
      <p:sp>
        <p:nvSpPr>
          <p:cNvPr id="6" name="Arrow: Down 5">
            <a:extLst>
              <a:ext uri="{FF2B5EF4-FFF2-40B4-BE49-F238E27FC236}">
                <a16:creationId xmlns:a16="http://schemas.microsoft.com/office/drawing/2014/main" id="{D8B0AC3F-643D-B33E-CD15-3388C19A54B4}"/>
              </a:ext>
            </a:extLst>
          </p:cNvPr>
          <p:cNvSpPr/>
          <p:nvPr/>
        </p:nvSpPr>
        <p:spPr>
          <a:xfrm>
            <a:off x="3398921" y="2845928"/>
            <a:ext cx="553452" cy="685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3EC91E11-94EA-E800-BFFD-84599BC15E73}"/>
              </a:ext>
            </a:extLst>
          </p:cNvPr>
          <p:cNvSpPr/>
          <p:nvPr/>
        </p:nvSpPr>
        <p:spPr>
          <a:xfrm>
            <a:off x="2159669" y="3628635"/>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6E493CB6-9C71-6A2A-D3D3-C966A7C28D30}"/>
              </a:ext>
            </a:extLst>
          </p:cNvPr>
          <p:cNvSpPr txBox="1"/>
          <p:nvPr/>
        </p:nvSpPr>
        <p:spPr>
          <a:xfrm>
            <a:off x="2474222" y="3831800"/>
            <a:ext cx="2688727" cy="1200329"/>
          </a:xfrm>
          <a:prstGeom prst="rect">
            <a:avLst/>
          </a:prstGeom>
          <a:noFill/>
        </p:spPr>
        <p:txBody>
          <a:bodyPr wrap="square" rtlCol="0">
            <a:spAutoFit/>
          </a:bodyPr>
          <a:lstStyle/>
          <a:p>
            <a:r>
              <a:rPr lang="en-US" sz="2400" dirty="0"/>
              <a:t>The model checks for cracks, track falls, or obstacles.</a:t>
            </a:r>
            <a:endParaRPr lang="en-US" sz="2400" dirty="0">
              <a:solidFill>
                <a:schemeClr val="bg1"/>
              </a:solidFill>
            </a:endParaRPr>
          </a:p>
        </p:txBody>
      </p:sp>
      <p:sp>
        <p:nvSpPr>
          <p:cNvPr id="9" name="Arrow: Down 8">
            <a:extLst>
              <a:ext uri="{FF2B5EF4-FFF2-40B4-BE49-F238E27FC236}">
                <a16:creationId xmlns:a16="http://schemas.microsoft.com/office/drawing/2014/main" id="{DDD5620C-E9EF-20C8-05BF-BC37D8BE4292}"/>
              </a:ext>
            </a:extLst>
          </p:cNvPr>
          <p:cNvSpPr/>
          <p:nvPr/>
        </p:nvSpPr>
        <p:spPr>
          <a:xfrm>
            <a:off x="3398921" y="5447472"/>
            <a:ext cx="553452" cy="685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E6EB05C-D3D6-19CD-EF8A-292F3C1D64AF}"/>
              </a:ext>
            </a:extLst>
          </p:cNvPr>
          <p:cNvSpPr/>
          <p:nvPr/>
        </p:nvSpPr>
        <p:spPr>
          <a:xfrm>
            <a:off x="2105526" y="6280486"/>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DCE3F9BB-B632-34CD-5FD7-256834AF2EC5}"/>
              </a:ext>
            </a:extLst>
          </p:cNvPr>
          <p:cNvSpPr txBox="1"/>
          <p:nvPr/>
        </p:nvSpPr>
        <p:spPr>
          <a:xfrm>
            <a:off x="2274630" y="6363998"/>
            <a:ext cx="2851484" cy="1569660"/>
          </a:xfrm>
          <a:prstGeom prst="rect">
            <a:avLst/>
          </a:prstGeom>
          <a:noFill/>
        </p:spPr>
        <p:txBody>
          <a:bodyPr wrap="square" rtlCol="0">
            <a:spAutoFit/>
          </a:bodyPr>
          <a:lstStyle/>
          <a:p>
            <a:r>
              <a:rPr lang="en-US" sz="2400" dirty="0"/>
              <a:t>Each defect is highlighted, making it easy to identify the exact location.</a:t>
            </a:r>
            <a:endParaRPr lang="en-US" sz="2400" dirty="0">
              <a:solidFill>
                <a:schemeClr val="bg1"/>
              </a:solidFill>
            </a:endParaRPr>
          </a:p>
        </p:txBody>
      </p:sp>
      <p:sp>
        <p:nvSpPr>
          <p:cNvPr id="12" name="Arrow: Right 11">
            <a:extLst>
              <a:ext uri="{FF2B5EF4-FFF2-40B4-BE49-F238E27FC236}">
                <a16:creationId xmlns:a16="http://schemas.microsoft.com/office/drawing/2014/main" id="{ED6B54C9-BCA7-61ED-05A7-2D54B666231D}"/>
              </a:ext>
            </a:extLst>
          </p:cNvPr>
          <p:cNvSpPr/>
          <p:nvPr/>
        </p:nvSpPr>
        <p:spPr>
          <a:xfrm>
            <a:off x="6737684" y="7001141"/>
            <a:ext cx="1509962" cy="6501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63DAB13-771F-F85F-A5D1-4B9A87D82981}"/>
              </a:ext>
            </a:extLst>
          </p:cNvPr>
          <p:cNvSpPr/>
          <p:nvPr/>
        </p:nvSpPr>
        <p:spPr>
          <a:xfrm>
            <a:off x="9657347" y="1083867"/>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C4E6F25-453A-22B3-445D-540EB7717652}"/>
              </a:ext>
            </a:extLst>
          </p:cNvPr>
          <p:cNvSpPr txBox="1"/>
          <p:nvPr/>
        </p:nvSpPr>
        <p:spPr>
          <a:xfrm>
            <a:off x="9998242" y="1264208"/>
            <a:ext cx="2622884" cy="1200329"/>
          </a:xfrm>
          <a:prstGeom prst="rect">
            <a:avLst/>
          </a:prstGeom>
          <a:noFill/>
        </p:spPr>
        <p:txBody>
          <a:bodyPr wrap="square" rtlCol="0">
            <a:spAutoFit/>
          </a:bodyPr>
          <a:lstStyle/>
          <a:p>
            <a:r>
              <a:rPr lang="en-US" sz="2400" dirty="0"/>
              <a:t>the siren rings immediately to alert nearby staff.</a:t>
            </a:r>
            <a:endParaRPr lang="en-US" sz="2400" dirty="0">
              <a:solidFill>
                <a:schemeClr val="bg1"/>
              </a:solidFill>
            </a:endParaRPr>
          </a:p>
        </p:txBody>
      </p:sp>
      <p:sp>
        <p:nvSpPr>
          <p:cNvPr id="15" name="Arrow: Down 14">
            <a:extLst>
              <a:ext uri="{FF2B5EF4-FFF2-40B4-BE49-F238E27FC236}">
                <a16:creationId xmlns:a16="http://schemas.microsoft.com/office/drawing/2014/main" id="{D0DAA124-ED8B-74EE-2E5B-84CD9C2A8F8B}"/>
              </a:ext>
            </a:extLst>
          </p:cNvPr>
          <p:cNvSpPr/>
          <p:nvPr/>
        </p:nvSpPr>
        <p:spPr>
          <a:xfrm>
            <a:off x="11079079" y="2824090"/>
            <a:ext cx="553452" cy="685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94E51AF9-C464-0539-CB78-1A3AF510E52C}"/>
              </a:ext>
            </a:extLst>
          </p:cNvPr>
          <p:cNvSpPr/>
          <p:nvPr/>
        </p:nvSpPr>
        <p:spPr>
          <a:xfrm>
            <a:off x="9739563" y="3613818"/>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2DFF71D3-4429-BFBB-D0CE-DF572D8A20F5}"/>
              </a:ext>
            </a:extLst>
          </p:cNvPr>
          <p:cNvSpPr txBox="1"/>
          <p:nvPr/>
        </p:nvSpPr>
        <p:spPr>
          <a:xfrm>
            <a:off x="9998242" y="3792936"/>
            <a:ext cx="3031958" cy="1200329"/>
          </a:xfrm>
          <a:prstGeom prst="rect">
            <a:avLst/>
          </a:prstGeom>
          <a:noFill/>
        </p:spPr>
        <p:txBody>
          <a:bodyPr wrap="square" rtlCol="0">
            <a:spAutoFit/>
          </a:bodyPr>
          <a:lstStyle/>
          <a:p>
            <a:r>
              <a:rPr lang="en-US" sz="2400" dirty="0"/>
              <a:t>Notifies staff so they can take quick action to prevent accidents.</a:t>
            </a:r>
            <a:endParaRPr lang="en-US" sz="2400" dirty="0">
              <a:solidFill>
                <a:schemeClr val="bg1"/>
              </a:solidFill>
            </a:endParaRPr>
          </a:p>
        </p:txBody>
      </p:sp>
      <p:sp>
        <p:nvSpPr>
          <p:cNvPr id="18" name="Arrow: Down 17">
            <a:extLst>
              <a:ext uri="{FF2B5EF4-FFF2-40B4-BE49-F238E27FC236}">
                <a16:creationId xmlns:a16="http://schemas.microsoft.com/office/drawing/2014/main" id="{6BACD56A-1ECD-3A49-9344-3C9C3FE0037B}"/>
              </a:ext>
            </a:extLst>
          </p:cNvPr>
          <p:cNvSpPr/>
          <p:nvPr/>
        </p:nvSpPr>
        <p:spPr>
          <a:xfrm>
            <a:off x="11079079" y="5354041"/>
            <a:ext cx="553452" cy="685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4500BC9B-AC96-19EB-5216-A7E9C9E1B751}"/>
              </a:ext>
            </a:extLst>
          </p:cNvPr>
          <p:cNvSpPr/>
          <p:nvPr/>
        </p:nvSpPr>
        <p:spPr>
          <a:xfrm>
            <a:off x="9739563" y="6280485"/>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73B52407-5E16-ED3E-EC04-1EBCEAA73627}"/>
              </a:ext>
            </a:extLst>
          </p:cNvPr>
          <p:cNvSpPr txBox="1"/>
          <p:nvPr/>
        </p:nvSpPr>
        <p:spPr>
          <a:xfrm>
            <a:off x="9998242" y="6334192"/>
            <a:ext cx="2899611" cy="1569660"/>
          </a:xfrm>
          <a:prstGeom prst="rect">
            <a:avLst/>
          </a:prstGeom>
          <a:noFill/>
        </p:spPr>
        <p:txBody>
          <a:bodyPr wrap="square" rtlCol="0">
            <a:spAutoFit/>
          </a:bodyPr>
          <a:lstStyle/>
          <a:p>
            <a:r>
              <a:rPr lang="en-US" sz="2400" dirty="0"/>
              <a:t>Shows crack/fall/obstacle along with its location for easy review.</a:t>
            </a:r>
            <a:endParaRPr lang="en-US" sz="2400" dirty="0">
              <a:solidFill>
                <a:schemeClr val="bg1"/>
              </a:solidFill>
            </a:endParaRPr>
          </a:p>
        </p:txBody>
      </p:sp>
    </p:spTree>
    <p:extLst>
      <p:ext uri="{BB962C8B-B14F-4D97-AF65-F5344CB8AC3E}">
        <p14:creationId xmlns:p14="http://schemas.microsoft.com/office/powerpoint/2010/main" val="6017042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3" name="arrow.wav"/>
          </p:stSnd>
        </p:sndAc>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64F13-2005-7AAD-72A2-5F6BC6353E7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6031628-BE32-F87E-ED15-71A80B60CEC6}"/>
              </a:ext>
            </a:extLst>
          </p:cNvPr>
          <p:cNvSpPr/>
          <p:nvPr/>
        </p:nvSpPr>
        <p:spPr>
          <a:xfrm>
            <a:off x="2994336" y="280760"/>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200" b="1" dirty="0"/>
              <a:t>CONCLUSION</a:t>
            </a:r>
          </a:p>
        </p:txBody>
      </p:sp>
      <p:sp>
        <p:nvSpPr>
          <p:cNvPr id="6" name="TextBox 5">
            <a:extLst>
              <a:ext uri="{FF2B5EF4-FFF2-40B4-BE49-F238E27FC236}">
                <a16:creationId xmlns:a16="http://schemas.microsoft.com/office/drawing/2014/main" id="{226D2AC8-7D89-A9D8-E3D0-25F1CF232C34}"/>
              </a:ext>
            </a:extLst>
          </p:cNvPr>
          <p:cNvSpPr txBox="1"/>
          <p:nvPr/>
        </p:nvSpPr>
        <p:spPr>
          <a:xfrm>
            <a:off x="779455" y="1493608"/>
            <a:ext cx="7494261" cy="1077218"/>
          </a:xfrm>
          <a:prstGeom prst="rect">
            <a:avLst/>
          </a:prstGeom>
          <a:noFill/>
        </p:spPr>
        <p:txBody>
          <a:bodyPr wrap="square" rtlCol="0">
            <a:spAutoFit/>
          </a:bodyPr>
          <a:lstStyle/>
          <a:p>
            <a:endParaRPr lang="en-US" sz="3200" dirty="0"/>
          </a:p>
          <a:p>
            <a:endParaRPr lang="en-US" sz="3200" dirty="0"/>
          </a:p>
        </p:txBody>
      </p:sp>
      <p:sp>
        <p:nvSpPr>
          <p:cNvPr id="7" name="Rectangle 2">
            <a:extLst>
              <a:ext uri="{FF2B5EF4-FFF2-40B4-BE49-F238E27FC236}">
                <a16:creationId xmlns:a16="http://schemas.microsoft.com/office/drawing/2014/main" id="{0091AB2F-1332-381C-8377-1651BD96E4E0}"/>
              </a:ext>
            </a:extLst>
          </p:cNvPr>
          <p:cNvSpPr>
            <a:spLocks noChangeArrowheads="1"/>
          </p:cNvSpPr>
          <p:nvPr/>
        </p:nvSpPr>
        <p:spPr bwMode="auto">
          <a:xfrm>
            <a:off x="668464" y="1089097"/>
            <a:ext cx="7896345"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Railway Track Fall Detection System using Faster R-CNN successfully identifies cracks, falls, and obstacles with high accuracy.</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system provides real-time detection with clear bounding boxes, improving the reliability of track monitoring.</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integrated siren alarm gives instant alerts, helping railway staff respond quickly and prevent accidents.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Overall, the project reduces manual inspection, increases safety, and offers an efficient AI-based solution for railway infrastructure monitoring.</a:t>
            </a:r>
          </a:p>
        </p:txBody>
      </p:sp>
      <p:pic>
        <p:nvPicPr>
          <p:cNvPr id="1026" name="Picture 2" descr="Digital Train Neon Tracks Stock Photos ...">
            <a:extLst>
              <a:ext uri="{FF2B5EF4-FFF2-40B4-BE49-F238E27FC236}">
                <a16:creationId xmlns:a16="http://schemas.microsoft.com/office/drawing/2014/main" id="{CF83E79E-A2EC-1EB4-7EFD-5C0B82A8A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4809" y="1493608"/>
            <a:ext cx="5686816" cy="5761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6177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sndAc>
          <p:stSnd>
            <p:snd r:embed="rId2" name="arrow.wav"/>
          </p:stSnd>
        </p:sndAc>
      </p:transition>
    </mc:Choice>
    <mc:Fallback xmlns="">
      <p:transition spd="slow">
        <p:fade/>
        <p:sndAc>
          <p:stSnd>
            <p:snd r:embed="rId4" name="arrow.wav"/>
          </p:stSnd>
        </p:sndAc>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1582</TotalTime>
  <Words>1585</Words>
  <Application>Microsoft Office PowerPoint</Application>
  <PresentationFormat>Custom</PresentationFormat>
  <Paragraphs>197</Paragraphs>
  <Slides>21</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Aptos Display</vt:lpstr>
      <vt:lpstr>Arial</vt:lpstr>
      <vt:lpstr>Arial Rounded MT Bold</vt:lpstr>
      <vt:lpstr>Calibri</vt:lpstr>
      <vt:lpstr>Calibri Light</vt:lpstr>
      <vt:lpstr>Courier New</vt:lpstr>
      <vt:lpstr>Eras Bold ITC</vt:lpstr>
      <vt:lpstr>Imprint MT Shadow</vt:lpstr>
      <vt:lpstr>Source Sans Pro</vt:lpstr>
      <vt:lpstr>Wingdings</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Vishnu Priya Dande</cp:lastModifiedBy>
  <cp:revision>50</cp:revision>
  <dcterms:created xsi:type="dcterms:W3CDTF">2025-01-20T15:32:05Z</dcterms:created>
  <dcterms:modified xsi:type="dcterms:W3CDTF">2026-04-11T07:24:57Z</dcterms:modified>
</cp:coreProperties>
</file>